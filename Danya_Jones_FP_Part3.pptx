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onsolas" charset="1" panose="020B0609020204030204"/>
      <p:regular r:id="rId21"/>
    </p:embeddedFont>
    <p:embeddedFont>
      <p:font typeface="Consolas Bold" charset="1" panose="020B07090202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sp>
        <p:nvSpPr>
          <p:cNvPr name="TextBox 12" id="12"/>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01</a:t>
            </a:r>
          </a:p>
        </p:txBody>
      </p:sp>
      <p:sp>
        <p:nvSpPr>
          <p:cNvPr name="TextBox 13" id="13"/>
          <p:cNvSpPr txBox="true"/>
          <p:nvPr/>
        </p:nvSpPr>
        <p:spPr>
          <a:xfrm rot="0">
            <a:off x="1171308" y="1345292"/>
            <a:ext cx="5807948" cy="1997591"/>
          </a:xfrm>
          <a:prstGeom prst="rect">
            <a:avLst/>
          </a:prstGeom>
        </p:spPr>
        <p:txBody>
          <a:bodyPr anchor="t" rtlCol="false" tIns="0" lIns="0" bIns="0" rIns="0">
            <a:spAutoFit/>
          </a:bodyPr>
          <a:lstStyle/>
          <a:p>
            <a:pPr algn="l">
              <a:lnSpc>
                <a:spcPts val="7449"/>
              </a:lnSpc>
            </a:pPr>
            <a:r>
              <a:rPr lang="en-US" sz="6207" b="true">
                <a:solidFill>
                  <a:srgbClr val="6F4336"/>
                </a:solidFill>
                <a:latin typeface="Consolas Bold"/>
                <a:ea typeface="Consolas Bold"/>
                <a:cs typeface="Consolas Bold"/>
                <a:sym typeface="Consolas Bold"/>
              </a:rPr>
              <a:t>City</a:t>
            </a:r>
          </a:p>
          <a:p>
            <a:pPr algn="l">
              <a:lnSpc>
                <a:spcPts val="7449"/>
              </a:lnSpc>
            </a:pPr>
            <a:r>
              <a:rPr lang="en-US" sz="6207" b="true">
                <a:solidFill>
                  <a:srgbClr val="6F4336"/>
                </a:solidFill>
                <a:latin typeface="Consolas Bold"/>
                <a:ea typeface="Consolas Bold"/>
                <a:cs typeface="Consolas Bold"/>
                <a:sym typeface="Consolas Bold"/>
              </a:rPr>
              <a:t>Signals</a:t>
            </a:r>
          </a:p>
        </p:txBody>
      </p:sp>
      <p:sp>
        <p:nvSpPr>
          <p:cNvPr name="TextBox 14" id="14"/>
          <p:cNvSpPr txBox="true"/>
          <p:nvPr/>
        </p:nvSpPr>
        <p:spPr>
          <a:xfrm rot="0">
            <a:off x="1171308" y="3708749"/>
            <a:ext cx="7183726" cy="981075"/>
          </a:xfrm>
          <a:prstGeom prst="rect">
            <a:avLst/>
          </a:prstGeom>
        </p:spPr>
        <p:txBody>
          <a:bodyPr anchor="t" rtlCol="false" tIns="0" lIns="0" bIns="0" rIns="0">
            <a:spAutoFit/>
          </a:bodyPr>
          <a:lstStyle/>
          <a:p>
            <a:pPr algn="l">
              <a:lnSpc>
                <a:spcPts val="3602"/>
              </a:lnSpc>
            </a:pPr>
            <a:r>
              <a:rPr lang="en-US" sz="3002" b="true">
                <a:solidFill>
                  <a:srgbClr val="3D2A26"/>
                </a:solidFill>
                <a:latin typeface="Consolas Bold"/>
                <a:ea typeface="Consolas Bold"/>
                <a:cs typeface="Consolas Bold"/>
                <a:sym typeface="Consolas Bold"/>
              </a:rPr>
              <a:t>What 311 Service Requests Reveal About Community Needs</a:t>
            </a:r>
          </a:p>
        </p:txBody>
      </p:sp>
      <p:sp>
        <p:nvSpPr>
          <p:cNvPr name="TextBox 15" id="15"/>
          <p:cNvSpPr txBox="true"/>
          <p:nvPr/>
        </p:nvSpPr>
        <p:spPr>
          <a:xfrm rot="0">
            <a:off x="1281122" y="5451824"/>
            <a:ext cx="6497384" cy="1085850"/>
          </a:xfrm>
          <a:prstGeom prst="rect">
            <a:avLst/>
          </a:prstGeom>
        </p:spPr>
        <p:txBody>
          <a:bodyPr anchor="t" rtlCol="false" tIns="0" lIns="0" bIns="0" rIns="0">
            <a:spAutoFit/>
          </a:bodyPr>
          <a:lstStyle/>
          <a:p>
            <a:pPr algn="l">
              <a:lnSpc>
                <a:spcPts val="2702"/>
              </a:lnSpc>
            </a:pPr>
            <a:r>
              <a:rPr lang="en-US" sz="2251">
                <a:solidFill>
                  <a:srgbClr val="6F4336"/>
                </a:solidFill>
                <a:latin typeface="Consolas"/>
                <a:ea typeface="Consolas"/>
                <a:cs typeface="Consolas"/>
                <a:sym typeface="Consolas"/>
              </a:rPr>
              <a:t>Danya Jones</a:t>
            </a:r>
          </a:p>
          <a:p>
            <a:pPr algn="l">
              <a:lnSpc>
                <a:spcPts val="2702"/>
              </a:lnSpc>
            </a:pPr>
            <a:r>
              <a:rPr lang="en-US" sz="2251">
                <a:solidFill>
                  <a:srgbClr val="6F4336"/>
                </a:solidFill>
                <a:latin typeface="Consolas"/>
                <a:ea typeface="Consolas"/>
                <a:cs typeface="Consolas"/>
                <a:sym typeface="Consolas"/>
              </a:rPr>
              <a:t>MATH 014: Introduction to Data Science</a:t>
            </a:r>
          </a:p>
          <a:p>
            <a:pPr algn="l">
              <a:lnSpc>
                <a:spcPts val="2702"/>
              </a:lnSpc>
            </a:pPr>
            <a:r>
              <a:rPr lang="en-US" sz="2251">
                <a:solidFill>
                  <a:srgbClr val="6F4336"/>
                </a:solidFill>
                <a:latin typeface="Consolas"/>
                <a:ea typeface="Consolas"/>
                <a:cs typeface="Consolas"/>
                <a:sym typeface="Consolas"/>
              </a:rPr>
              <a:t>April 28th, 2026</a:t>
            </a:r>
          </a:p>
        </p:txBody>
      </p:sp>
      <p:grpSp>
        <p:nvGrpSpPr>
          <p:cNvPr name="Group 16" id="16"/>
          <p:cNvGrpSpPr/>
          <p:nvPr/>
        </p:nvGrpSpPr>
        <p:grpSpPr>
          <a:xfrm rot="0">
            <a:off x="10464762" y="1109529"/>
            <a:ext cx="4838667" cy="4033971"/>
            <a:chOff x="0" y="0"/>
            <a:chExt cx="6451556" cy="5378628"/>
          </a:xfrm>
        </p:grpSpPr>
        <p:sp>
          <p:nvSpPr>
            <p:cNvPr name="Freeform 17" id="17" descr="image30.png"/>
            <p:cNvSpPr/>
            <p:nvPr/>
          </p:nvSpPr>
          <p:spPr>
            <a:xfrm flipH="false" flipV="false" rot="0">
              <a:off x="0" y="0"/>
              <a:ext cx="6451619" cy="5378577"/>
            </a:xfrm>
            <a:custGeom>
              <a:avLst/>
              <a:gdLst/>
              <a:ahLst/>
              <a:cxnLst/>
              <a:rect r="r" b="b" t="t" l="l"/>
              <a:pathLst>
                <a:path h="5378577" w="6451619">
                  <a:moveTo>
                    <a:pt x="0" y="0"/>
                  </a:moveTo>
                  <a:lnTo>
                    <a:pt x="6451619" y="0"/>
                  </a:lnTo>
                  <a:lnTo>
                    <a:pt x="6451619" y="5378577"/>
                  </a:lnTo>
                  <a:lnTo>
                    <a:pt x="0" y="5378577"/>
                  </a:lnTo>
                  <a:lnTo>
                    <a:pt x="0" y="0"/>
                  </a:lnTo>
                  <a:close/>
                </a:path>
              </a:pathLst>
            </a:custGeom>
            <a:blipFill>
              <a:blip r:embed="rId4"/>
              <a:stretch>
                <a:fillRect l="-1063" t="0" r="-1062" b="-1"/>
              </a:stretch>
            </a:blipFill>
          </p:spPr>
        </p:sp>
      </p:grpSp>
      <p:grpSp>
        <p:nvGrpSpPr>
          <p:cNvPr name="Group 18" id="18"/>
          <p:cNvGrpSpPr/>
          <p:nvPr/>
        </p:nvGrpSpPr>
        <p:grpSpPr>
          <a:xfrm rot="0">
            <a:off x="8709463" y="5616521"/>
            <a:ext cx="2685644" cy="1679429"/>
            <a:chOff x="0" y="0"/>
            <a:chExt cx="3233407" cy="2021965"/>
          </a:xfrm>
        </p:grpSpPr>
        <p:sp>
          <p:nvSpPr>
            <p:cNvPr name="Freeform 19" id="19"/>
            <p:cNvSpPr/>
            <p:nvPr/>
          </p:nvSpPr>
          <p:spPr>
            <a:xfrm flipH="false" flipV="false" rot="0">
              <a:off x="15240" y="15784"/>
              <a:ext cx="3202940" cy="1990397"/>
            </a:xfrm>
            <a:custGeom>
              <a:avLst/>
              <a:gdLst/>
              <a:ahLst/>
              <a:cxnLst/>
              <a:rect r="r" b="b" t="t" l="l"/>
              <a:pathLst>
                <a:path h="1990397" w="3202940">
                  <a:moveTo>
                    <a:pt x="0" y="331733"/>
                  </a:moveTo>
                  <a:cubicBezTo>
                    <a:pt x="0" y="148504"/>
                    <a:pt x="144272" y="0"/>
                    <a:pt x="322326" y="0"/>
                  </a:cubicBezTo>
                  <a:lnTo>
                    <a:pt x="2880614" y="0"/>
                  </a:lnTo>
                  <a:cubicBezTo>
                    <a:pt x="3058668" y="0"/>
                    <a:pt x="3202940" y="148504"/>
                    <a:pt x="3202940" y="331733"/>
                  </a:cubicBezTo>
                  <a:lnTo>
                    <a:pt x="3202940" y="1658664"/>
                  </a:lnTo>
                  <a:cubicBezTo>
                    <a:pt x="3202940" y="1841893"/>
                    <a:pt x="3058668" y="1990397"/>
                    <a:pt x="2880614" y="1990397"/>
                  </a:cubicBezTo>
                  <a:lnTo>
                    <a:pt x="322326" y="1990397"/>
                  </a:lnTo>
                  <a:cubicBezTo>
                    <a:pt x="144272" y="1990397"/>
                    <a:pt x="0" y="1841893"/>
                    <a:pt x="0" y="1658664"/>
                  </a:cubicBezTo>
                  <a:close/>
                </a:path>
              </a:pathLst>
            </a:custGeom>
            <a:solidFill>
              <a:srgbClr val="FFFAEE"/>
            </a:solidFill>
          </p:spPr>
        </p:sp>
        <p:sp>
          <p:nvSpPr>
            <p:cNvPr name="Freeform 20" id="20"/>
            <p:cNvSpPr/>
            <p:nvPr/>
          </p:nvSpPr>
          <p:spPr>
            <a:xfrm flipH="false" flipV="false" rot="0">
              <a:off x="0" y="0"/>
              <a:ext cx="3233420" cy="2021965"/>
            </a:xfrm>
            <a:custGeom>
              <a:avLst/>
              <a:gdLst/>
              <a:ahLst/>
              <a:cxnLst/>
              <a:rect r="r" b="b" t="t" l="l"/>
              <a:pathLst>
                <a:path h="2021965" w="3233420">
                  <a:moveTo>
                    <a:pt x="0" y="347517"/>
                  </a:moveTo>
                  <a:cubicBezTo>
                    <a:pt x="0" y="155475"/>
                    <a:pt x="151257" y="0"/>
                    <a:pt x="337566" y="0"/>
                  </a:cubicBezTo>
                  <a:lnTo>
                    <a:pt x="2895854" y="0"/>
                  </a:lnTo>
                  <a:lnTo>
                    <a:pt x="2895854" y="15784"/>
                  </a:lnTo>
                  <a:lnTo>
                    <a:pt x="2895854" y="0"/>
                  </a:lnTo>
                  <a:cubicBezTo>
                    <a:pt x="3082163" y="0"/>
                    <a:pt x="3233420" y="155475"/>
                    <a:pt x="3233420" y="347517"/>
                  </a:cubicBezTo>
                  <a:lnTo>
                    <a:pt x="3218180" y="347517"/>
                  </a:lnTo>
                  <a:lnTo>
                    <a:pt x="3233420" y="347517"/>
                  </a:lnTo>
                  <a:lnTo>
                    <a:pt x="3233420" y="1674448"/>
                  </a:lnTo>
                  <a:lnTo>
                    <a:pt x="3218180" y="1674448"/>
                  </a:lnTo>
                  <a:lnTo>
                    <a:pt x="3233420" y="1674448"/>
                  </a:lnTo>
                  <a:cubicBezTo>
                    <a:pt x="3233420" y="1866490"/>
                    <a:pt x="3082163" y="2021965"/>
                    <a:pt x="2895854" y="2021965"/>
                  </a:cubicBezTo>
                  <a:lnTo>
                    <a:pt x="2895854" y="2006181"/>
                  </a:lnTo>
                  <a:lnTo>
                    <a:pt x="2895854" y="2021965"/>
                  </a:lnTo>
                  <a:lnTo>
                    <a:pt x="337566" y="2021965"/>
                  </a:lnTo>
                  <a:lnTo>
                    <a:pt x="337566" y="2006181"/>
                  </a:lnTo>
                  <a:lnTo>
                    <a:pt x="337566" y="2021965"/>
                  </a:lnTo>
                  <a:cubicBezTo>
                    <a:pt x="151257" y="2021965"/>
                    <a:pt x="0" y="1866490"/>
                    <a:pt x="0" y="1674448"/>
                  </a:cubicBezTo>
                  <a:lnTo>
                    <a:pt x="0" y="347517"/>
                  </a:lnTo>
                  <a:lnTo>
                    <a:pt x="15240" y="347517"/>
                  </a:lnTo>
                  <a:lnTo>
                    <a:pt x="0" y="347517"/>
                  </a:lnTo>
                  <a:moveTo>
                    <a:pt x="30480" y="347517"/>
                  </a:moveTo>
                  <a:lnTo>
                    <a:pt x="30480" y="1674448"/>
                  </a:lnTo>
                  <a:lnTo>
                    <a:pt x="15240" y="1674448"/>
                  </a:lnTo>
                  <a:lnTo>
                    <a:pt x="30480" y="1674448"/>
                  </a:lnTo>
                  <a:cubicBezTo>
                    <a:pt x="30480" y="1848864"/>
                    <a:pt x="167894" y="1990397"/>
                    <a:pt x="337566" y="1990397"/>
                  </a:cubicBezTo>
                  <a:lnTo>
                    <a:pt x="2895854" y="1990397"/>
                  </a:lnTo>
                  <a:cubicBezTo>
                    <a:pt x="3065526" y="1990397"/>
                    <a:pt x="3202940" y="1848864"/>
                    <a:pt x="3202940" y="1674448"/>
                  </a:cubicBezTo>
                  <a:lnTo>
                    <a:pt x="3202940" y="347517"/>
                  </a:lnTo>
                  <a:cubicBezTo>
                    <a:pt x="3202940" y="173101"/>
                    <a:pt x="3065526" y="31569"/>
                    <a:pt x="2895854" y="31569"/>
                  </a:cubicBezTo>
                  <a:lnTo>
                    <a:pt x="337566" y="31569"/>
                  </a:lnTo>
                  <a:lnTo>
                    <a:pt x="337566" y="15784"/>
                  </a:lnTo>
                  <a:lnTo>
                    <a:pt x="337566" y="31569"/>
                  </a:lnTo>
                  <a:cubicBezTo>
                    <a:pt x="167894" y="31569"/>
                    <a:pt x="30480" y="173101"/>
                    <a:pt x="30480" y="347517"/>
                  </a:cubicBezTo>
                  <a:close/>
                </a:path>
              </a:pathLst>
            </a:custGeom>
            <a:solidFill>
              <a:srgbClr val="C25F4A"/>
            </a:solidFill>
          </p:spPr>
        </p:sp>
      </p:grpSp>
      <p:sp>
        <p:nvSpPr>
          <p:cNvPr name="TextBox 21" id="21"/>
          <p:cNvSpPr txBox="true"/>
          <p:nvPr/>
        </p:nvSpPr>
        <p:spPr>
          <a:xfrm rot="0">
            <a:off x="9407342" y="5782389"/>
            <a:ext cx="1816570"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DATASET SIZE</a:t>
            </a:r>
          </a:p>
        </p:txBody>
      </p:sp>
      <p:sp>
        <p:nvSpPr>
          <p:cNvPr name="TextBox 22" id="22"/>
          <p:cNvSpPr txBox="true"/>
          <p:nvPr/>
        </p:nvSpPr>
        <p:spPr>
          <a:xfrm rot="0">
            <a:off x="9255223" y="6033664"/>
            <a:ext cx="1816570"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440,600</a:t>
            </a:r>
          </a:p>
        </p:txBody>
      </p:sp>
      <p:sp>
        <p:nvSpPr>
          <p:cNvPr name="TextBox 23" id="23"/>
          <p:cNvSpPr txBox="true"/>
          <p:nvPr/>
        </p:nvSpPr>
        <p:spPr>
          <a:xfrm rot="0">
            <a:off x="8878722" y="6627838"/>
            <a:ext cx="2384301" cy="276225"/>
          </a:xfrm>
          <a:prstGeom prst="rect">
            <a:avLst/>
          </a:prstGeom>
        </p:spPr>
        <p:txBody>
          <a:bodyPr anchor="t" rtlCol="false" tIns="0" lIns="0" bIns="0" rIns="0">
            <a:spAutoFit/>
          </a:bodyPr>
          <a:lstStyle/>
          <a:p>
            <a:pPr algn="l">
              <a:lnSpc>
                <a:spcPts val="1951"/>
              </a:lnSpc>
            </a:pPr>
            <a:r>
              <a:rPr lang="en-US" sz="1626">
                <a:solidFill>
                  <a:srgbClr val="3D2A26"/>
                </a:solidFill>
                <a:latin typeface="Consolas"/>
                <a:ea typeface="Consolas"/>
                <a:cs typeface="Consolas"/>
                <a:sym typeface="Consolas"/>
              </a:rPr>
              <a:t>311 requests analyzed</a:t>
            </a:r>
          </a:p>
        </p:txBody>
      </p:sp>
      <p:grpSp>
        <p:nvGrpSpPr>
          <p:cNvPr name="Group 24" id="24"/>
          <p:cNvGrpSpPr/>
          <p:nvPr/>
        </p:nvGrpSpPr>
        <p:grpSpPr>
          <a:xfrm rot="0">
            <a:off x="11757284" y="5553495"/>
            <a:ext cx="4175179" cy="1805480"/>
            <a:chOff x="0" y="0"/>
            <a:chExt cx="4514571" cy="1952244"/>
          </a:xfrm>
        </p:grpSpPr>
        <p:sp>
          <p:nvSpPr>
            <p:cNvPr name="Freeform 25" id="25"/>
            <p:cNvSpPr/>
            <p:nvPr/>
          </p:nvSpPr>
          <p:spPr>
            <a:xfrm flipH="false" flipV="false" rot="0">
              <a:off x="15240" y="15240"/>
              <a:ext cx="4484116" cy="1921764"/>
            </a:xfrm>
            <a:custGeom>
              <a:avLst/>
              <a:gdLst/>
              <a:ahLst/>
              <a:cxnLst/>
              <a:rect r="r" b="b" t="t" l="l"/>
              <a:pathLst>
                <a:path h="1921764" w="4484116">
                  <a:moveTo>
                    <a:pt x="0" y="320294"/>
                  </a:moveTo>
                  <a:cubicBezTo>
                    <a:pt x="0" y="143383"/>
                    <a:pt x="144653" y="0"/>
                    <a:pt x="323215" y="0"/>
                  </a:cubicBezTo>
                  <a:lnTo>
                    <a:pt x="4160901" y="0"/>
                  </a:lnTo>
                  <a:cubicBezTo>
                    <a:pt x="4339336" y="0"/>
                    <a:pt x="4484116" y="143383"/>
                    <a:pt x="4484116" y="320294"/>
                  </a:cubicBezTo>
                  <a:lnTo>
                    <a:pt x="4484116" y="1601470"/>
                  </a:lnTo>
                  <a:cubicBezTo>
                    <a:pt x="4484116" y="1778381"/>
                    <a:pt x="4339463" y="1921764"/>
                    <a:pt x="4160901" y="1921764"/>
                  </a:cubicBezTo>
                  <a:lnTo>
                    <a:pt x="323215" y="1921764"/>
                  </a:lnTo>
                  <a:cubicBezTo>
                    <a:pt x="144780" y="1921764"/>
                    <a:pt x="0" y="1778381"/>
                    <a:pt x="0" y="1601470"/>
                  </a:cubicBezTo>
                  <a:close/>
                </a:path>
              </a:pathLst>
            </a:custGeom>
            <a:solidFill>
              <a:srgbClr val="FFFAEE"/>
            </a:solidFill>
          </p:spPr>
        </p:sp>
        <p:sp>
          <p:nvSpPr>
            <p:cNvPr name="Freeform 26" id="26"/>
            <p:cNvSpPr/>
            <p:nvPr/>
          </p:nvSpPr>
          <p:spPr>
            <a:xfrm flipH="false" flipV="false" rot="0">
              <a:off x="0" y="0"/>
              <a:ext cx="4514596" cy="1952244"/>
            </a:xfrm>
            <a:custGeom>
              <a:avLst/>
              <a:gdLst/>
              <a:ahLst/>
              <a:cxnLst/>
              <a:rect r="r" b="b" t="t" l="l"/>
              <a:pathLst>
                <a:path h="1952244" w="4514596">
                  <a:moveTo>
                    <a:pt x="0" y="335534"/>
                  </a:moveTo>
                  <a:cubicBezTo>
                    <a:pt x="0" y="150114"/>
                    <a:pt x="151638" y="0"/>
                    <a:pt x="338455" y="0"/>
                  </a:cubicBezTo>
                  <a:lnTo>
                    <a:pt x="4176141" y="0"/>
                  </a:lnTo>
                  <a:lnTo>
                    <a:pt x="4176141" y="15240"/>
                  </a:lnTo>
                  <a:lnTo>
                    <a:pt x="4176141" y="0"/>
                  </a:lnTo>
                  <a:cubicBezTo>
                    <a:pt x="4362958" y="0"/>
                    <a:pt x="4514596" y="150114"/>
                    <a:pt x="4514596" y="335534"/>
                  </a:cubicBezTo>
                  <a:lnTo>
                    <a:pt x="4499356" y="335534"/>
                  </a:lnTo>
                  <a:lnTo>
                    <a:pt x="4514596" y="335534"/>
                  </a:lnTo>
                  <a:lnTo>
                    <a:pt x="4514596" y="1616710"/>
                  </a:lnTo>
                  <a:lnTo>
                    <a:pt x="4499356" y="1616710"/>
                  </a:lnTo>
                  <a:lnTo>
                    <a:pt x="4514596" y="1616710"/>
                  </a:lnTo>
                  <a:cubicBezTo>
                    <a:pt x="4514596" y="1802130"/>
                    <a:pt x="4362958" y="1952244"/>
                    <a:pt x="4176141" y="1952244"/>
                  </a:cubicBezTo>
                  <a:lnTo>
                    <a:pt x="4176141" y="1937004"/>
                  </a:lnTo>
                  <a:lnTo>
                    <a:pt x="4176141" y="1952244"/>
                  </a:lnTo>
                  <a:lnTo>
                    <a:pt x="338455" y="1952244"/>
                  </a:lnTo>
                  <a:lnTo>
                    <a:pt x="338455" y="1937004"/>
                  </a:lnTo>
                  <a:lnTo>
                    <a:pt x="338455" y="1952244"/>
                  </a:lnTo>
                  <a:cubicBezTo>
                    <a:pt x="151638" y="1952244"/>
                    <a:pt x="0" y="1802130"/>
                    <a:pt x="0" y="1616710"/>
                  </a:cubicBezTo>
                  <a:lnTo>
                    <a:pt x="0" y="335534"/>
                  </a:lnTo>
                  <a:lnTo>
                    <a:pt x="15240" y="335534"/>
                  </a:lnTo>
                  <a:lnTo>
                    <a:pt x="0" y="335534"/>
                  </a:lnTo>
                  <a:moveTo>
                    <a:pt x="30480" y="335534"/>
                  </a:moveTo>
                  <a:lnTo>
                    <a:pt x="30480" y="1616710"/>
                  </a:lnTo>
                  <a:lnTo>
                    <a:pt x="15240" y="1616710"/>
                  </a:lnTo>
                  <a:lnTo>
                    <a:pt x="30480" y="1616710"/>
                  </a:lnTo>
                  <a:cubicBezTo>
                    <a:pt x="30480" y="1785112"/>
                    <a:pt x="168275" y="1921764"/>
                    <a:pt x="338455" y="1921764"/>
                  </a:cubicBezTo>
                  <a:lnTo>
                    <a:pt x="4176141" y="1921764"/>
                  </a:lnTo>
                  <a:cubicBezTo>
                    <a:pt x="4346321" y="1921764"/>
                    <a:pt x="4484116" y="1785112"/>
                    <a:pt x="4484116" y="1616710"/>
                  </a:cubicBezTo>
                  <a:lnTo>
                    <a:pt x="4484116" y="335534"/>
                  </a:lnTo>
                  <a:cubicBezTo>
                    <a:pt x="4484116" y="167132"/>
                    <a:pt x="4346321" y="30480"/>
                    <a:pt x="4176141" y="30480"/>
                  </a:cubicBezTo>
                  <a:lnTo>
                    <a:pt x="338455" y="30480"/>
                  </a:lnTo>
                  <a:lnTo>
                    <a:pt x="338455" y="15240"/>
                  </a:lnTo>
                  <a:lnTo>
                    <a:pt x="338455" y="30480"/>
                  </a:lnTo>
                  <a:cubicBezTo>
                    <a:pt x="168275" y="30480"/>
                    <a:pt x="30480" y="167259"/>
                    <a:pt x="30480" y="335534"/>
                  </a:cubicBezTo>
                  <a:close/>
                </a:path>
              </a:pathLst>
            </a:custGeom>
            <a:solidFill>
              <a:srgbClr val="4A9BC1"/>
            </a:solidFill>
          </p:spPr>
        </p:sp>
      </p:grpSp>
      <p:sp>
        <p:nvSpPr>
          <p:cNvPr name="TextBox 27" id="27"/>
          <p:cNvSpPr txBox="true"/>
          <p:nvPr/>
        </p:nvSpPr>
        <p:spPr>
          <a:xfrm rot="0">
            <a:off x="12557332" y="5782389"/>
            <a:ext cx="2746096"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GOAL</a:t>
            </a:r>
          </a:p>
        </p:txBody>
      </p:sp>
      <p:sp>
        <p:nvSpPr>
          <p:cNvPr name="TextBox 28" id="28"/>
          <p:cNvSpPr txBox="true"/>
          <p:nvPr/>
        </p:nvSpPr>
        <p:spPr>
          <a:xfrm rot="0">
            <a:off x="12328557" y="6033664"/>
            <a:ext cx="2746096" cy="523875"/>
          </a:xfrm>
          <a:prstGeom prst="rect">
            <a:avLst/>
          </a:prstGeom>
        </p:spPr>
        <p:txBody>
          <a:bodyPr anchor="t" rtlCol="false" tIns="0" lIns="0" bIns="0" rIns="0">
            <a:spAutoFit/>
          </a:bodyPr>
          <a:lstStyle/>
          <a:p>
            <a:pPr algn="l">
              <a:lnSpc>
                <a:spcPts val="3602"/>
              </a:lnSpc>
            </a:pPr>
            <a:r>
              <a:rPr lang="en-US" sz="3002" b="true">
                <a:solidFill>
                  <a:srgbClr val="4A9BC1"/>
                </a:solidFill>
                <a:latin typeface="Consolas Bold"/>
                <a:ea typeface="Consolas Bold"/>
                <a:cs typeface="Consolas Bold"/>
                <a:sym typeface="Consolas Bold"/>
              </a:rPr>
              <a:t>Patterns</a:t>
            </a:r>
          </a:p>
        </p:txBody>
      </p:sp>
      <p:sp>
        <p:nvSpPr>
          <p:cNvPr name="TextBox 29" id="29"/>
          <p:cNvSpPr txBox="true"/>
          <p:nvPr/>
        </p:nvSpPr>
        <p:spPr>
          <a:xfrm rot="0">
            <a:off x="12328557" y="6624214"/>
            <a:ext cx="2917109" cy="523875"/>
          </a:xfrm>
          <a:prstGeom prst="rect">
            <a:avLst/>
          </a:prstGeom>
        </p:spPr>
        <p:txBody>
          <a:bodyPr anchor="t" rtlCol="false" tIns="0" lIns="0" bIns="0" rIns="0">
            <a:spAutoFit/>
          </a:bodyPr>
          <a:lstStyle/>
          <a:p>
            <a:pPr algn="l">
              <a:lnSpc>
                <a:spcPts val="1951"/>
              </a:lnSpc>
            </a:pPr>
            <a:r>
              <a:rPr lang="en-US" sz="1626">
                <a:solidFill>
                  <a:srgbClr val="3D2A26"/>
                </a:solidFill>
                <a:latin typeface="Consolas"/>
                <a:ea typeface="Consolas"/>
                <a:cs typeface="Consolas"/>
                <a:sym typeface="Consolas"/>
              </a:rPr>
              <a:t>request type, location, time, status, response</a:t>
            </a:r>
          </a:p>
        </p:txBody>
      </p:sp>
      <p:grpSp>
        <p:nvGrpSpPr>
          <p:cNvPr name="Group 30" id="30"/>
          <p:cNvGrpSpPr/>
          <p:nvPr/>
        </p:nvGrpSpPr>
        <p:grpSpPr>
          <a:xfrm rot="0">
            <a:off x="15099392" y="6684784"/>
            <a:ext cx="2402176" cy="2573516"/>
            <a:chOff x="0" y="0"/>
            <a:chExt cx="3202902" cy="3431354"/>
          </a:xfrm>
        </p:grpSpPr>
        <p:sp>
          <p:nvSpPr>
            <p:cNvPr name="Freeform 31" id="31" descr="image16.png"/>
            <p:cNvSpPr/>
            <p:nvPr/>
          </p:nvSpPr>
          <p:spPr>
            <a:xfrm flipH="false" flipV="false" rot="0">
              <a:off x="0" y="0"/>
              <a:ext cx="3202865" cy="3431318"/>
            </a:xfrm>
            <a:custGeom>
              <a:avLst/>
              <a:gdLst/>
              <a:ahLst/>
              <a:cxnLst/>
              <a:rect r="r" b="b" t="t" l="l"/>
              <a:pathLst>
                <a:path h="3431318" w="3202865">
                  <a:moveTo>
                    <a:pt x="0" y="0"/>
                  </a:moveTo>
                  <a:lnTo>
                    <a:pt x="3202865" y="0"/>
                  </a:lnTo>
                  <a:lnTo>
                    <a:pt x="3202865" y="3431318"/>
                  </a:lnTo>
                  <a:lnTo>
                    <a:pt x="0" y="3431318"/>
                  </a:lnTo>
                  <a:lnTo>
                    <a:pt x="0" y="0"/>
                  </a:lnTo>
                  <a:close/>
                </a:path>
              </a:pathLst>
            </a:custGeom>
            <a:blipFill>
              <a:blip r:embed="rId5"/>
              <a:stretch>
                <a:fillRect l="0" t="-798" r="-1" b="-799"/>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71143"/>
            <a:chOff x="0" y="0"/>
            <a:chExt cx="3294418" cy="3561524"/>
          </a:xfrm>
        </p:grpSpPr>
        <p:sp>
          <p:nvSpPr>
            <p:cNvPr name="Freeform 13" id="13" descr="image18.png"/>
            <p:cNvSpPr/>
            <p:nvPr/>
          </p:nvSpPr>
          <p:spPr>
            <a:xfrm flipH="false" flipV="false" rot="0">
              <a:off x="0" y="0"/>
              <a:ext cx="3294380" cy="3561588"/>
            </a:xfrm>
            <a:custGeom>
              <a:avLst/>
              <a:gdLst/>
              <a:ahLst/>
              <a:cxnLst/>
              <a:rect r="r" b="b" t="t" l="l"/>
              <a:pathLst>
                <a:path h="3561588" w="3294380">
                  <a:moveTo>
                    <a:pt x="0" y="0"/>
                  </a:moveTo>
                  <a:lnTo>
                    <a:pt x="3294380" y="0"/>
                  </a:lnTo>
                  <a:lnTo>
                    <a:pt x="3294380" y="3561588"/>
                  </a:lnTo>
                  <a:lnTo>
                    <a:pt x="0" y="356158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02</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ROADMAP</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Presentation Roadmap</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The structure follows the required presentation module: dataset, methods, analysis, and findings.</a:t>
            </a:r>
          </a:p>
        </p:txBody>
      </p:sp>
      <p:grpSp>
        <p:nvGrpSpPr>
          <p:cNvPr name="Group 20" id="20"/>
          <p:cNvGrpSpPr/>
          <p:nvPr/>
        </p:nvGrpSpPr>
        <p:grpSpPr>
          <a:xfrm rot="0">
            <a:off x="1223962" y="3145707"/>
            <a:ext cx="3523193" cy="2356418"/>
            <a:chOff x="0" y="0"/>
            <a:chExt cx="4697590" cy="3141891"/>
          </a:xfrm>
        </p:grpSpPr>
        <p:sp>
          <p:nvSpPr>
            <p:cNvPr name="Freeform 21" id="21"/>
            <p:cNvSpPr/>
            <p:nvPr/>
          </p:nvSpPr>
          <p:spPr>
            <a:xfrm flipH="false" flipV="false" rot="0">
              <a:off x="15240" y="15240"/>
              <a:ext cx="4667123" cy="3111373"/>
            </a:xfrm>
            <a:custGeom>
              <a:avLst/>
              <a:gdLst/>
              <a:ahLst/>
              <a:cxnLst/>
              <a:rect r="r" b="b" t="t" l="l"/>
              <a:pathLst>
                <a:path h="3111373" w="4667123">
                  <a:moveTo>
                    <a:pt x="0" y="518541"/>
                  </a:moveTo>
                  <a:cubicBezTo>
                    <a:pt x="0" y="232156"/>
                    <a:pt x="232918" y="0"/>
                    <a:pt x="520319" y="0"/>
                  </a:cubicBezTo>
                  <a:lnTo>
                    <a:pt x="4146804" y="0"/>
                  </a:lnTo>
                  <a:cubicBezTo>
                    <a:pt x="4434078" y="0"/>
                    <a:pt x="4667123" y="232156"/>
                    <a:pt x="4667123" y="518541"/>
                  </a:cubicBezTo>
                  <a:lnTo>
                    <a:pt x="4667123" y="2592832"/>
                  </a:lnTo>
                  <a:cubicBezTo>
                    <a:pt x="4667123" y="2879217"/>
                    <a:pt x="4434205" y="3111373"/>
                    <a:pt x="4146804" y="3111373"/>
                  </a:cubicBezTo>
                  <a:lnTo>
                    <a:pt x="520319" y="3111373"/>
                  </a:lnTo>
                  <a:cubicBezTo>
                    <a:pt x="233045" y="3111373"/>
                    <a:pt x="0" y="2879217"/>
                    <a:pt x="0" y="2592832"/>
                  </a:cubicBezTo>
                  <a:close/>
                </a:path>
              </a:pathLst>
            </a:custGeom>
            <a:solidFill>
              <a:srgbClr val="FFFAEE"/>
            </a:solidFill>
          </p:spPr>
        </p:sp>
        <p:sp>
          <p:nvSpPr>
            <p:cNvPr name="Freeform 22" id="22"/>
            <p:cNvSpPr/>
            <p:nvPr/>
          </p:nvSpPr>
          <p:spPr>
            <a:xfrm flipH="false" flipV="false" rot="0">
              <a:off x="0" y="0"/>
              <a:ext cx="4697603" cy="3141853"/>
            </a:xfrm>
            <a:custGeom>
              <a:avLst/>
              <a:gdLst/>
              <a:ahLst/>
              <a:cxnLst/>
              <a:rect r="r" b="b" t="t" l="l"/>
              <a:pathLst>
                <a:path h="3141853" w="4697603">
                  <a:moveTo>
                    <a:pt x="0" y="533781"/>
                  </a:moveTo>
                  <a:cubicBezTo>
                    <a:pt x="0" y="239014"/>
                    <a:pt x="239776" y="0"/>
                    <a:pt x="535559" y="0"/>
                  </a:cubicBezTo>
                  <a:lnTo>
                    <a:pt x="4162044" y="0"/>
                  </a:lnTo>
                  <a:lnTo>
                    <a:pt x="4162044" y="15240"/>
                  </a:lnTo>
                  <a:lnTo>
                    <a:pt x="4162044" y="0"/>
                  </a:lnTo>
                  <a:cubicBezTo>
                    <a:pt x="4457700" y="0"/>
                    <a:pt x="4697603" y="239014"/>
                    <a:pt x="4697603" y="533781"/>
                  </a:cubicBezTo>
                  <a:lnTo>
                    <a:pt x="4682363" y="533781"/>
                  </a:lnTo>
                  <a:lnTo>
                    <a:pt x="4697603" y="533781"/>
                  </a:lnTo>
                  <a:lnTo>
                    <a:pt x="4697603" y="2608072"/>
                  </a:lnTo>
                  <a:lnTo>
                    <a:pt x="4682363" y="2608072"/>
                  </a:lnTo>
                  <a:lnTo>
                    <a:pt x="4697603" y="2608072"/>
                  </a:lnTo>
                  <a:cubicBezTo>
                    <a:pt x="4697603" y="2902966"/>
                    <a:pt x="4457827" y="3141853"/>
                    <a:pt x="4162044" y="3141853"/>
                  </a:cubicBezTo>
                  <a:lnTo>
                    <a:pt x="4162044" y="3126613"/>
                  </a:lnTo>
                  <a:lnTo>
                    <a:pt x="4162044" y="3141853"/>
                  </a:lnTo>
                  <a:lnTo>
                    <a:pt x="535559" y="3141853"/>
                  </a:lnTo>
                  <a:lnTo>
                    <a:pt x="535559" y="3126613"/>
                  </a:lnTo>
                  <a:lnTo>
                    <a:pt x="535559" y="3141853"/>
                  </a:lnTo>
                  <a:cubicBezTo>
                    <a:pt x="239776" y="3141853"/>
                    <a:pt x="0" y="2902966"/>
                    <a:pt x="0" y="2608072"/>
                  </a:cubicBezTo>
                  <a:lnTo>
                    <a:pt x="0" y="533781"/>
                  </a:lnTo>
                  <a:lnTo>
                    <a:pt x="15240" y="533781"/>
                  </a:lnTo>
                  <a:lnTo>
                    <a:pt x="0" y="533781"/>
                  </a:lnTo>
                  <a:moveTo>
                    <a:pt x="30480" y="533781"/>
                  </a:moveTo>
                  <a:lnTo>
                    <a:pt x="30480" y="2608072"/>
                  </a:lnTo>
                  <a:lnTo>
                    <a:pt x="15240" y="2608072"/>
                  </a:lnTo>
                  <a:lnTo>
                    <a:pt x="30480" y="2608072"/>
                  </a:lnTo>
                  <a:cubicBezTo>
                    <a:pt x="30480" y="2885948"/>
                    <a:pt x="256540" y="3111373"/>
                    <a:pt x="535432" y="3111373"/>
                  </a:cubicBezTo>
                  <a:lnTo>
                    <a:pt x="4162044" y="3111373"/>
                  </a:lnTo>
                  <a:cubicBezTo>
                    <a:pt x="4440936" y="3111373"/>
                    <a:pt x="4666996" y="2885948"/>
                    <a:pt x="4666996" y="2608072"/>
                  </a:cubicBezTo>
                  <a:lnTo>
                    <a:pt x="4666996" y="533781"/>
                  </a:lnTo>
                  <a:cubicBezTo>
                    <a:pt x="4666996" y="255905"/>
                    <a:pt x="4440936" y="30480"/>
                    <a:pt x="4162044" y="30480"/>
                  </a:cubicBezTo>
                  <a:lnTo>
                    <a:pt x="535559" y="30480"/>
                  </a:lnTo>
                  <a:lnTo>
                    <a:pt x="535559" y="15240"/>
                  </a:lnTo>
                  <a:lnTo>
                    <a:pt x="535559" y="30480"/>
                  </a:lnTo>
                  <a:cubicBezTo>
                    <a:pt x="256540" y="30480"/>
                    <a:pt x="30480" y="255905"/>
                    <a:pt x="30480" y="533781"/>
                  </a:cubicBezTo>
                  <a:close/>
                </a:path>
              </a:pathLst>
            </a:custGeom>
            <a:solidFill>
              <a:srgbClr val="4A9BC1"/>
            </a:solidFill>
          </p:spPr>
        </p:sp>
      </p:grpSp>
      <p:sp>
        <p:nvSpPr>
          <p:cNvPr name="TextBox 23" id="23"/>
          <p:cNvSpPr txBox="true"/>
          <p:nvPr/>
        </p:nvSpPr>
        <p:spPr>
          <a:xfrm rot="0">
            <a:off x="1528210" y="3311576"/>
            <a:ext cx="2914717"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01</a:t>
            </a:r>
          </a:p>
        </p:txBody>
      </p:sp>
      <p:sp>
        <p:nvSpPr>
          <p:cNvPr name="TextBox 24" id="24"/>
          <p:cNvSpPr txBox="true"/>
          <p:nvPr/>
        </p:nvSpPr>
        <p:spPr>
          <a:xfrm rot="0">
            <a:off x="1528210" y="3630378"/>
            <a:ext cx="2914717" cy="523875"/>
          </a:xfrm>
          <a:prstGeom prst="rect">
            <a:avLst/>
          </a:prstGeom>
        </p:spPr>
        <p:txBody>
          <a:bodyPr anchor="t" rtlCol="false" tIns="0" lIns="0" bIns="0" rIns="0">
            <a:spAutoFit/>
          </a:bodyPr>
          <a:lstStyle/>
          <a:p>
            <a:pPr algn="l">
              <a:lnSpc>
                <a:spcPts val="3602"/>
              </a:lnSpc>
            </a:pPr>
            <a:r>
              <a:rPr lang="en-US" sz="3002" b="true">
                <a:solidFill>
                  <a:srgbClr val="4A9BC1"/>
                </a:solidFill>
                <a:latin typeface="Consolas Bold"/>
                <a:ea typeface="Consolas Bold"/>
                <a:cs typeface="Consolas Bold"/>
                <a:sym typeface="Consolas Bold"/>
              </a:rPr>
              <a:t>Dataset</a:t>
            </a:r>
          </a:p>
        </p:txBody>
      </p:sp>
      <p:sp>
        <p:nvSpPr>
          <p:cNvPr name="TextBox 25" id="25"/>
          <p:cNvSpPr txBox="true"/>
          <p:nvPr/>
        </p:nvSpPr>
        <p:spPr>
          <a:xfrm rot="0">
            <a:off x="1528210" y="4290374"/>
            <a:ext cx="2914717"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What I studied</a:t>
            </a:r>
          </a:p>
        </p:txBody>
      </p:sp>
      <p:sp>
        <p:nvSpPr>
          <p:cNvPr name="TextBox 26" id="26"/>
          <p:cNvSpPr txBox="true"/>
          <p:nvPr/>
        </p:nvSpPr>
        <p:spPr>
          <a:xfrm rot="0">
            <a:off x="4918710" y="3863731"/>
            <a:ext cx="251594" cy="609600"/>
          </a:xfrm>
          <a:prstGeom prst="rect">
            <a:avLst/>
          </a:prstGeom>
        </p:spPr>
        <p:txBody>
          <a:bodyPr anchor="t" rtlCol="false" tIns="0" lIns="0" bIns="0" rIns="0">
            <a:spAutoFit/>
          </a:bodyPr>
          <a:lstStyle/>
          <a:p>
            <a:pPr algn="l">
              <a:lnSpc>
                <a:spcPts val="4323"/>
              </a:lnSpc>
            </a:pPr>
            <a:r>
              <a:rPr lang="en-US" sz="3602" b="true">
                <a:solidFill>
                  <a:srgbClr val="6F4336"/>
                </a:solidFill>
                <a:latin typeface="Consolas Bold"/>
                <a:ea typeface="Consolas Bold"/>
                <a:cs typeface="Consolas Bold"/>
                <a:sym typeface="Consolas Bold"/>
              </a:rPr>
              <a:t>→</a:t>
            </a:r>
          </a:p>
        </p:txBody>
      </p:sp>
      <p:grpSp>
        <p:nvGrpSpPr>
          <p:cNvPr name="Group 27" id="27"/>
          <p:cNvGrpSpPr/>
          <p:nvPr/>
        </p:nvGrpSpPr>
        <p:grpSpPr>
          <a:xfrm rot="0">
            <a:off x="5410619" y="3145707"/>
            <a:ext cx="3523193" cy="2356418"/>
            <a:chOff x="0" y="0"/>
            <a:chExt cx="4697590" cy="3141891"/>
          </a:xfrm>
        </p:grpSpPr>
        <p:sp>
          <p:nvSpPr>
            <p:cNvPr name="Freeform 28" id="28"/>
            <p:cNvSpPr/>
            <p:nvPr/>
          </p:nvSpPr>
          <p:spPr>
            <a:xfrm flipH="false" flipV="false" rot="0">
              <a:off x="15240" y="15240"/>
              <a:ext cx="4667123" cy="3111373"/>
            </a:xfrm>
            <a:custGeom>
              <a:avLst/>
              <a:gdLst/>
              <a:ahLst/>
              <a:cxnLst/>
              <a:rect r="r" b="b" t="t" l="l"/>
              <a:pathLst>
                <a:path h="3111373" w="4667123">
                  <a:moveTo>
                    <a:pt x="0" y="518541"/>
                  </a:moveTo>
                  <a:cubicBezTo>
                    <a:pt x="0" y="232156"/>
                    <a:pt x="232918" y="0"/>
                    <a:pt x="520319" y="0"/>
                  </a:cubicBezTo>
                  <a:lnTo>
                    <a:pt x="4146804" y="0"/>
                  </a:lnTo>
                  <a:cubicBezTo>
                    <a:pt x="4434078" y="0"/>
                    <a:pt x="4667123" y="232156"/>
                    <a:pt x="4667123" y="518541"/>
                  </a:cubicBezTo>
                  <a:lnTo>
                    <a:pt x="4667123" y="2592832"/>
                  </a:lnTo>
                  <a:cubicBezTo>
                    <a:pt x="4667123" y="2879217"/>
                    <a:pt x="4434205" y="3111373"/>
                    <a:pt x="4146804" y="3111373"/>
                  </a:cubicBezTo>
                  <a:lnTo>
                    <a:pt x="520319" y="3111373"/>
                  </a:lnTo>
                  <a:cubicBezTo>
                    <a:pt x="233045" y="3111373"/>
                    <a:pt x="0" y="2879217"/>
                    <a:pt x="0" y="2592832"/>
                  </a:cubicBezTo>
                  <a:close/>
                </a:path>
              </a:pathLst>
            </a:custGeom>
            <a:solidFill>
              <a:srgbClr val="FFFAEE"/>
            </a:solidFill>
          </p:spPr>
        </p:sp>
        <p:sp>
          <p:nvSpPr>
            <p:cNvPr name="Freeform 29" id="29"/>
            <p:cNvSpPr/>
            <p:nvPr/>
          </p:nvSpPr>
          <p:spPr>
            <a:xfrm flipH="false" flipV="false" rot="0">
              <a:off x="0" y="0"/>
              <a:ext cx="4697603" cy="3141853"/>
            </a:xfrm>
            <a:custGeom>
              <a:avLst/>
              <a:gdLst/>
              <a:ahLst/>
              <a:cxnLst/>
              <a:rect r="r" b="b" t="t" l="l"/>
              <a:pathLst>
                <a:path h="3141853" w="4697603">
                  <a:moveTo>
                    <a:pt x="0" y="533781"/>
                  </a:moveTo>
                  <a:cubicBezTo>
                    <a:pt x="0" y="239014"/>
                    <a:pt x="239776" y="0"/>
                    <a:pt x="535559" y="0"/>
                  </a:cubicBezTo>
                  <a:lnTo>
                    <a:pt x="4162044" y="0"/>
                  </a:lnTo>
                  <a:lnTo>
                    <a:pt x="4162044" y="15240"/>
                  </a:lnTo>
                  <a:lnTo>
                    <a:pt x="4162044" y="0"/>
                  </a:lnTo>
                  <a:cubicBezTo>
                    <a:pt x="4457700" y="0"/>
                    <a:pt x="4697603" y="239014"/>
                    <a:pt x="4697603" y="533781"/>
                  </a:cubicBezTo>
                  <a:lnTo>
                    <a:pt x="4682363" y="533781"/>
                  </a:lnTo>
                  <a:lnTo>
                    <a:pt x="4697603" y="533781"/>
                  </a:lnTo>
                  <a:lnTo>
                    <a:pt x="4697603" y="2608072"/>
                  </a:lnTo>
                  <a:lnTo>
                    <a:pt x="4682363" y="2608072"/>
                  </a:lnTo>
                  <a:lnTo>
                    <a:pt x="4697603" y="2608072"/>
                  </a:lnTo>
                  <a:cubicBezTo>
                    <a:pt x="4697603" y="2902966"/>
                    <a:pt x="4457827" y="3141853"/>
                    <a:pt x="4162044" y="3141853"/>
                  </a:cubicBezTo>
                  <a:lnTo>
                    <a:pt x="4162044" y="3126613"/>
                  </a:lnTo>
                  <a:lnTo>
                    <a:pt x="4162044" y="3141853"/>
                  </a:lnTo>
                  <a:lnTo>
                    <a:pt x="535559" y="3141853"/>
                  </a:lnTo>
                  <a:lnTo>
                    <a:pt x="535559" y="3126613"/>
                  </a:lnTo>
                  <a:lnTo>
                    <a:pt x="535559" y="3141853"/>
                  </a:lnTo>
                  <a:cubicBezTo>
                    <a:pt x="239776" y="3141853"/>
                    <a:pt x="0" y="2902966"/>
                    <a:pt x="0" y="2608072"/>
                  </a:cubicBezTo>
                  <a:lnTo>
                    <a:pt x="0" y="533781"/>
                  </a:lnTo>
                  <a:lnTo>
                    <a:pt x="15240" y="533781"/>
                  </a:lnTo>
                  <a:lnTo>
                    <a:pt x="0" y="533781"/>
                  </a:lnTo>
                  <a:moveTo>
                    <a:pt x="30480" y="533781"/>
                  </a:moveTo>
                  <a:lnTo>
                    <a:pt x="30480" y="2608072"/>
                  </a:lnTo>
                  <a:lnTo>
                    <a:pt x="15240" y="2608072"/>
                  </a:lnTo>
                  <a:lnTo>
                    <a:pt x="30480" y="2608072"/>
                  </a:lnTo>
                  <a:cubicBezTo>
                    <a:pt x="30480" y="2885948"/>
                    <a:pt x="256540" y="3111373"/>
                    <a:pt x="535432" y="3111373"/>
                  </a:cubicBezTo>
                  <a:lnTo>
                    <a:pt x="4162044" y="3111373"/>
                  </a:lnTo>
                  <a:cubicBezTo>
                    <a:pt x="4440936" y="3111373"/>
                    <a:pt x="4666996" y="2885948"/>
                    <a:pt x="4666996" y="2608072"/>
                  </a:cubicBezTo>
                  <a:lnTo>
                    <a:pt x="4666996" y="533781"/>
                  </a:lnTo>
                  <a:cubicBezTo>
                    <a:pt x="4666996" y="255905"/>
                    <a:pt x="4440936" y="30480"/>
                    <a:pt x="4162044" y="30480"/>
                  </a:cubicBezTo>
                  <a:lnTo>
                    <a:pt x="535559" y="30480"/>
                  </a:lnTo>
                  <a:lnTo>
                    <a:pt x="535559" y="15240"/>
                  </a:lnTo>
                  <a:lnTo>
                    <a:pt x="535559" y="30480"/>
                  </a:lnTo>
                  <a:cubicBezTo>
                    <a:pt x="256540" y="30480"/>
                    <a:pt x="30480" y="255905"/>
                    <a:pt x="30480" y="533781"/>
                  </a:cubicBezTo>
                  <a:close/>
                </a:path>
              </a:pathLst>
            </a:custGeom>
            <a:solidFill>
              <a:srgbClr val="C25F4A"/>
            </a:solidFill>
          </p:spPr>
        </p:sp>
      </p:grpSp>
      <p:sp>
        <p:nvSpPr>
          <p:cNvPr name="TextBox 30" id="30"/>
          <p:cNvSpPr txBox="true"/>
          <p:nvPr/>
        </p:nvSpPr>
        <p:spPr>
          <a:xfrm rot="0">
            <a:off x="5714857" y="3311576"/>
            <a:ext cx="2914717"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02</a:t>
            </a:r>
          </a:p>
        </p:txBody>
      </p:sp>
      <p:sp>
        <p:nvSpPr>
          <p:cNvPr name="TextBox 31" id="31"/>
          <p:cNvSpPr txBox="true"/>
          <p:nvPr/>
        </p:nvSpPr>
        <p:spPr>
          <a:xfrm rot="0">
            <a:off x="5714857" y="3630378"/>
            <a:ext cx="2914717"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Methods</a:t>
            </a:r>
          </a:p>
        </p:txBody>
      </p:sp>
      <p:sp>
        <p:nvSpPr>
          <p:cNvPr name="TextBox 32" id="32"/>
          <p:cNvSpPr txBox="true"/>
          <p:nvPr/>
        </p:nvSpPr>
        <p:spPr>
          <a:xfrm rot="0">
            <a:off x="5714857" y="4290374"/>
            <a:ext cx="2914717"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How I cleaned it</a:t>
            </a:r>
          </a:p>
        </p:txBody>
      </p:sp>
      <p:sp>
        <p:nvSpPr>
          <p:cNvPr name="TextBox 33" id="33"/>
          <p:cNvSpPr txBox="true"/>
          <p:nvPr/>
        </p:nvSpPr>
        <p:spPr>
          <a:xfrm rot="0">
            <a:off x="9105357" y="3863731"/>
            <a:ext cx="251594" cy="609600"/>
          </a:xfrm>
          <a:prstGeom prst="rect">
            <a:avLst/>
          </a:prstGeom>
        </p:spPr>
        <p:txBody>
          <a:bodyPr anchor="t" rtlCol="false" tIns="0" lIns="0" bIns="0" rIns="0">
            <a:spAutoFit/>
          </a:bodyPr>
          <a:lstStyle/>
          <a:p>
            <a:pPr algn="l">
              <a:lnSpc>
                <a:spcPts val="4323"/>
              </a:lnSpc>
            </a:pPr>
            <a:r>
              <a:rPr lang="en-US" sz="3602" b="true">
                <a:solidFill>
                  <a:srgbClr val="6F4336"/>
                </a:solidFill>
                <a:latin typeface="Consolas Bold"/>
                <a:ea typeface="Consolas Bold"/>
                <a:cs typeface="Consolas Bold"/>
                <a:sym typeface="Consolas Bold"/>
              </a:rPr>
              <a:t>→</a:t>
            </a:r>
          </a:p>
        </p:txBody>
      </p:sp>
      <p:grpSp>
        <p:nvGrpSpPr>
          <p:cNvPr name="Group 34" id="34"/>
          <p:cNvGrpSpPr/>
          <p:nvPr/>
        </p:nvGrpSpPr>
        <p:grpSpPr>
          <a:xfrm rot="0">
            <a:off x="9597266" y="3145707"/>
            <a:ext cx="3523193" cy="2356418"/>
            <a:chOff x="0" y="0"/>
            <a:chExt cx="4697590" cy="3141891"/>
          </a:xfrm>
        </p:grpSpPr>
        <p:sp>
          <p:nvSpPr>
            <p:cNvPr name="Freeform 35" id="35"/>
            <p:cNvSpPr/>
            <p:nvPr/>
          </p:nvSpPr>
          <p:spPr>
            <a:xfrm flipH="false" flipV="false" rot="0">
              <a:off x="15240" y="15240"/>
              <a:ext cx="4667123" cy="3111373"/>
            </a:xfrm>
            <a:custGeom>
              <a:avLst/>
              <a:gdLst/>
              <a:ahLst/>
              <a:cxnLst/>
              <a:rect r="r" b="b" t="t" l="l"/>
              <a:pathLst>
                <a:path h="3111373" w="4667123">
                  <a:moveTo>
                    <a:pt x="0" y="518541"/>
                  </a:moveTo>
                  <a:cubicBezTo>
                    <a:pt x="0" y="232156"/>
                    <a:pt x="232918" y="0"/>
                    <a:pt x="520319" y="0"/>
                  </a:cubicBezTo>
                  <a:lnTo>
                    <a:pt x="4146804" y="0"/>
                  </a:lnTo>
                  <a:cubicBezTo>
                    <a:pt x="4434078" y="0"/>
                    <a:pt x="4667123" y="232156"/>
                    <a:pt x="4667123" y="518541"/>
                  </a:cubicBezTo>
                  <a:lnTo>
                    <a:pt x="4667123" y="2592832"/>
                  </a:lnTo>
                  <a:cubicBezTo>
                    <a:pt x="4667123" y="2879217"/>
                    <a:pt x="4434205" y="3111373"/>
                    <a:pt x="4146804" y="3111373"/>
                  </a:cubicBezTo>
                  <a:lnTo>
                    <a:pt x="520319" y="3111373"/>
                  </a:lnTo>
                  <a:cubicBezTo>
                    <a:pt x="233045" y="3111373"/>
                    <a:pt x="0" y="2879217"/>
                    <a:pt x="0" y="2592832"/>
                  </a:cubicBezTo>
                  <a:close/>
                </a:path>
              </a:pathLst>
            </a:custGeom>
            <a:solidFill>
              <a:srgbClr val="FFFAEE"/>
            </a:solidFill>
          </p:spPr>
        </p:sp>
        <p:sp>
          <p:nvSpPr>
            <p:cNvPr name="Freeform 36" id="36"/>
            <p:cNvSpPr/>
            <p:nvPr/>
          </p:nvSpPr>
          <p:spPr>
            <a:xfrm flipH="false" flipV="false" rot="0">
              <a:off x="0" y="0"/>
              <a:ext cx="4697603" cy="3141853"/>
            </a:xfrm>
            <a:custGeom>
              <a:avLst/>
              <a:gdLst/>
              <a:ahLst/>
              <a:cxnLst/>
              <a:rect r="r" b="b" t="t" l="l"/>
              <a:pathLst>
                <a:path h="3141853" w="4697603">
                  <a:moveTo>
                    <a:pt x="0" y="533781"/>
                  </a:moveTo>
                  <a:cubicBezTo>
                    <a:pt x="0" y="239014"/>
                    <a:pt x="239776" y="0"/>
                    <a:pt x="535559" y="0"/>
                  </a:cubicBezTo>
                  <a:lnTo>
                    <a:pt x="4162044" y="0"/>
                  </a:lnTo>
                  <a:lnTo>
                    <a:pt x="4162044" y="15240"/>
                  </a:lnTo>
                  <a:lnTo>
                    <a:pt x="4162044" y="0"/>
                  </a:lnTo>
                  <a:cubicBezTo>
                    <a:pt x="4457700" y="0"/>
                    <a:pt x="4697603" y="239014"/>
                    <a:pt x="4697603" y="533781"/>
                  </a:cubicBezTo>
                  <a:lnTo>
                    <a:pt x="4682363" y="533781"/>
                  </a:lnTo>
                  <a:lnTo>
                    <a:pt x="4697603" y="533781"/>
                  </a:lnTo>
                  <a:lnTo>
                    <a:pt x="4697603" y="2608072"/>
                  </a:lnTo>
                  <a:lnTo>
                    <a:pt x="4682363" y="2608072"/>
                  </a:lnTo>
                  <a:lnTo>
                    <a:pt x="4697603" y="2608072"/>
                  </a:lnTo>
                  <a:cubicBezTo>
                    <a:pt x="4697603" y="2902966"/>
                    <a:pt x="4457827" y="3141853"/>
                    <a:pt x="4162044" y="3141853"/>
                  </a:cubicBezTo>
                  <a:lnTo>
                    <a:pt x="4162044" y="3126613"/>
                  </a:lnTo>
                  <a:lnTo>
                    <a:pt x="4162044" y="3141853"/>
                  </a:lnTo>
                  <a:lnTo>
                    <a:pt x="535559" y="3141853"/>
                  </a:lnTo>
                  <a:lnTo>
                    <a:pt x="535559" y="3126613"/>
                  </a:lnTo>
                  <a:lnTo>
                    <a:pt x="535559" y="3141853"/>
                  </a:lnTo>
                  <a:cubicBezTo>
                    <a:pt x="239776" y="3141853"/>
                    <a:pt x="0" y="2902966"/>
                    <a:pt x="0" y="2608072"/>
                  </a:cubicBezTo>
                  <a:lnTo>
                    <a:pt x="0" y="533781"/>
                  </a:lnTo>
                  <a:lnTo>
                    <a:pt x="15240" y="533781"/>
                  </a:lnTo>
                  <a:lnTo>
                    <a:pt x="0" y="533781"/>
                  </a:lnTo>
                  <a:moveTo>
                    <a:pt x="30480" y="533781"/>
                  </a:moveTo>
                  <a:lnTo>
                    <a:pt x="30480" y="2608072"/>
                  </a:lnTo>
                  <a:lnTo>
                    <a:pt x="15240" y="2608072"/>
                  </a:lnTo>
                  <a:lnTo>
                    <a:pt x="30480" y="2608072"/>
                  </a:lnTo>
                  <a:cubicBezTo>
                    <a:pt x="30480" y="2885948"/>
                    <a:pt x="256540" y="3111373"/>
                    <a:pt x="535432" y="3111373"/>
                  </a:cubicBezTo>
                  <a:lnTo>
                    <a:pt x="4162044" y="3111373"/>
                  </a:lnTo>
                  <a:cubicBezTo>
                    <a:pt x="4440936" y="3111373"/>
                    <a:pt x="4666996" y="2885948"/>
                    <a:pt x="4666996" y="2608072"/>
                  </a:cubicBezTo>
                  <a:lnTo>
                    <a:pt x="4666996" y="533781"/>
                  </a:lnTo>
                  <a:cubicBezTo>
                    <a:pt x="4666996" y="255905"/>
                    <a:pt x="4440936" y="30480"/>
                    <a:pt x="4162044" y="30480"/>
                  </a:cubicBezTo>
                  <a:lnTo>
                    <a:pt x="535559" y="30480"/>
                  </a:lnTo>
                  <a:lnTo>
                    <a:pt x="535559" y="15240"/>
                  </a:lnTo>
                  <a:lnTo>
                    <a:pt x="535559" y="30480"/>
                  </a:lnTo>
                  <a:cubicBezTo>
                    <a:pt x="256540" y="30480"/>
                    <a:pt x="30480" y="255905"/>
                    <a:pt x="30480" y="533781"/>
                  </a:cubicBezTo>
                  <a:close/>
                </a:path>
              </a:pathLst>
            </a:custGeom>
            <a:solidFill>
              <a:srgbClr val="CAA652"/>
            </a:solidFill>
          </p:spPr>
        </p:sp>
      </p:grpSp>
      <p:sp>
        <p:nvSpPr>
          <p:cNvPr name="TextBox 37" id="37"/>
          <p:cNvSpPr txBox="true"/>
          <p:nvPr/>
        </p:nvSpPr>
        <p:spPr>
          <a:xfrm rot="0">
            <a:off x="9901504" y="3311576"/>
            <a:ext cx="2914717"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03</a:t>
            </a:r>
          </a:p>
        </p:txBody>
      </p:sp>
      <p:sp>
        <p:nvSpPr>
          <p:cNvPr name="TextBox 38" id="38"/>
          <p:cNvSpPr txBox="true"/>
          <p:nvPr/>
        </p:nvSpPr>
        <p:spPr>
          <a:xfrm rot="0">
            <a:off x="9901504" y="3630378"/>
            <a:ext cx="2914717" cy="523875"/>
          </a:xfrm>
          <a:prstGeom prst="rect">
            <a:avLst/>
          </a:prstGeom>
        </p:spPr>
        <p:txBody>
          <a:bodyPr anchor="t" rtlCol="false" tIns="0" lIns="0" bIns="0" rIns="0">
            <a:spAutoFit/>
          </a:bodyPr>
          <a:lstStyle/>
          <a:p>
            <a:pPr algn="l">
              <a:lnSpc>
                <a:spcPts val="3602"/>
              </a:lnSpc>
            </a:pPr>
            <a:r>
              <a:rPr lang="en-US" sz="3002" b="true">
                <a:solidFill>
                  <a:srgbClr val="CAA652"/>
                </a:solidFill>
                <a:latin typeface="Consolas Bold"/>
                <a:ea typeface="Consolas Bold"/>
                <a:cs typeface="Consolas Bold"/>
                <a:sym typeface="Consolas Bold"/>
              </a:rPr>
              <a:t>Analysis</a:t>
            </a:r>
          </a:p>
        </p:txBody>
      </p:sp>
      <p:sp>
        <p:nvSpPr>
          <p:cNvPr name="TextBox 39" id="39"/>
          <p:cNvSpPr txBox="true"/>
          <p:nvPr/>
        </p:nvSpPr>
        <p:spPr>
          <a:xfrm rot="0">
            <a:off x="9901504" y="4290374"/>
            <a:ext cx="2914717"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What the visuals show</a:t>
            </a:r>
          </a:p>
        </p:txBody>
      </p:sp>
      <p:sp>
        <p:nvSpPr>
          <p:cNvPr name="TextBox 40" id="40"/>
          <p:cNvSpPr txBox="true"/>
          <p:nvPr/>
        </p:nvSpPr>
        <p:spPr>
          <a:xfrm rot="0">
            <a:off x="13292004" y="3863731"/>
            <a:ext cx="251594" cy="609600"/>
          </a:xfrm>
          <a:prstGeom prst="rect">
            <a:avLst/>
          </a:prstGeom>
        </p:spPr>
        <p:txBody>
          <a:bodyPr anchor="t" rtlCol="false" tIns="0" lIns="0" bIns="0" rIns="0">
            <a:spAutoFit/>
          </a:bodyPr>
          <a:lstStyle/>
          <a:p>
            <a:pPr algn="l">
              <a:lnSpc>
                <a:spcPts val="4323"/>
              </a:lnSpc>
            </a:pPr>
            <a:r>
              <a:rPr lang="en-US" sz="3602" b="true">
                <a:solidFill>
                  <a:srgbClr val="6F4336"/>
                </a:solidFill>
                <a:latin typeface="Consolas Bold"/>
                <a:ea typeface="Consolas Bold"/>
                <a:cs typeface="Consolas Bold"/>
                <a:sym typeface="Consolas Bold"/>
              </a:rPr>
              <a:t>→</a:t>
            </a:r>
          </a:p>
        </p:txBody>
      </p:sp>
      <p:grpSp>
        <p:nvGrpSpPr>
          <p:cNvPr name="Group 41" id="41"/>
          <p:cNvGrpSpPr/>
          <p:nvPr/>
        </p:nvGrpSpPr>
        <p:grpSpPr>
          <a:xfrm rot="0">
            <a:off x="13783913" y="3145707"/>
            <a:ext cx="3523193" cy="2356418"/>
            <a:chOff x="0" y="0"/>
            <a:chExt cx="4697590" cy="3141891"/>
          </a:xfrm>
        </p:grpSpPr>
        <p:sp>
          <p:nvSpPr>
            <p:cNvPr name="Freeform 42" id="42"/>
            <p:cNvSpPr/>
            <p:nvPr/>
          </p:nvSpPr>
          <p:spPr>
            <a:xfrm flipH="false" flipV="false" rot="0">
              <a:off x="15240" y="15240"/>
              <a:ext cx="4667123" cy="3111373"/>
            </a:xfrm>
            <a:custGeom>
              <a:avLst/>
              <a:gdLst/>
              <a:ahLst/>
              <a:cxnLst/>
              <a:rect r="r" b="b" t="t" l="l"/>
              <a:pathLst>
                <a:path h="3111373" w="4667123">
                  <a:moveTo>
                    <a:pt x="0" y="518541"/>
                  </a:moveTo>
                  <a:cubicBezTo>
                    <a:pt x="0" y="232156"/>
                    <a:pt x="232918" y="0"/>
                    <a:pt x="520319" y="0"/>
                  </a:cubicBezTo>
                  <a:lnTo>
                    <a:pt x="4146804" y="0"/>
                  </a:lnTo>
                  <a:cubicBezTo>
                    <a:pt x="4434078" y="0"/>
                    <a:pt x="4667123" y="232156"/>
                    <a:pt x="4667123" y="518541"/>
                  </a:cubicBezTo>
                  <a:lnTo>
                    <a:pt x="4667123" y="2592832"/>
                  </a:lnTo>
                  <a:cubicBezTo>
                    <a:pt x="4667123" y="2879217"/>
                    <a:pt x="4434205" y="3111373"/>
                    <a:pt x="4146804" y="3111373"/>
                  </a:cubicBezTo>
                  <a:lnTo>
                    <a:pt x="520319" y="3111373"/>
                  </a:lnTo>
                  <a:cubicBezTo>
                    <a:pt x="233045" y="3111373"/>
                    <a:pt x="0" y="2879217"/>
                    <a:pt x="0" y="2592832"/>
                  </a:cubicBezTo>
                  <a:close/>
                </a:path>
              </a:pathLst>
            </a:custGeom>
            <a:solidFill>
              <a:srgbClr val="FFFAEE"/>
            </a:solidFill>
          </p:spPr>
        </p:sp>
        <p:sp>
          <p:nvSpPr>
            <p:cNvPr name="Freeform 43" id="43"/>
            <p:cNvSpPr/>
            <p:nvPr/>
          </p:nvSpPr>
          <p:spPr>
            <a:xfrm flipH="false" flipV="false" rot="0">
              <a:off x="0" y="0"/>
              <a:ext cx="4697603" cy="3141853"/>
            </a:xfrm>
            <a:custGeom>
              <a:avLst/>
              <a:gdLst/>
              <a:ahLst/>
              <a:cxnLst/>
              <a:rect r="r" b="b" t="t" l="l"/>
              <a:pathLst>
                <a:path h="3141853" w="4697603">
                  <a:moveTo>
                    <a:pt x="0" y="533781"/>
                  </a:moveTo>
                  <a:cubicBezTo>
                    <a:pt x="0" y="239014"/>
                    <a:pt x="239776" y="0"/>
                    <a:pt x="535559" y="0"/>
                  </a:cubicBezTo>
                  <a:lnTo>
                    <a:pt x="4162044" y="0"/>
                  </a:lnTo>
                  <a:lnTo>
                    <a:pt x="4162044" y="15240"/>
                  </a:lnTo>
                  <a:lnTo>
                    <a:pt x="4162044" y="0"/>
                  </a:lnTo>
                  <a:cubicBezTo>
                    <a:pt x="4457700" y="0"/>
                    <a:pt x="4697603" y="239014"/>
                    <a:pt x="4697603" y="533781"/>
                  </a:cubicBezTo>
                  <a:lnTo>
                    <a:pt x="4682363" y="533781"/>
                  </a:lnTo>
                  <a:lnTo>
                    <a:pt x="4697603" y="533781"/>
                  </a:lnTo>
                  <a:lnTo>
                    <a:pt x="4697603" y="2608072"/>
                  </a:lnTo>
                  <a:lnTo>
                    <a:pt x="4682363" y="2608072"/>
                  </a:lnTo>
                  <a:lnTo>
                    <a:pt x="4697603" y="2608072"/>
                  </a:lnTo>
                  <a:cubicBezTo>
                    <a:pt x="4697603" y="2902966"/>
                    <a:pt x="4457827" y="3141853"/>
                    <a:pt x="4162044" y="3141853"/>
                  </a:cubicBezTo>
                  <a:lnTo>
                    <a:pt x="4162044" y="3126613"/>
                  </a:lnTo>
                  <a:lnTo>
                    <a:pt x="4162044" y="3141853"/>
                  </a:lnTo>
                  <a:lnTo>
                    <a:pt x="535559" y="3141853"/>
                  </a:lnTo>
                  <a:lnTo>
                    <a:pt x="535559" y="3126613"/>
                  </a:lnTo>
                  <a:lnTo>
                    <a:pt x="535559" y="3141853"/>
                  </a:lnTo>
                  <a:cubicBezTo>
                    <a:pt x="239776" y="3141853"/>
                    <a:pt x="0" y="2902966"/>
                    <a:pt x="0" y="2608072"/>
                  </a:cubicBezTo>
                  <a:lnTo>
                    <a:pt x="0" y="533781"/>
                  </a:lnTo>
                  <a:lnTo>
                    <a:pt x="15240" y="533781"/>
                  </a:lnTo>
                  <a:lnTo>
                    <a:pt x="0" y="533781"/>
                  </a:lnTo>
                  <a:moveTo>
                    <a:pt x="30480" y="533781"/>
                  </a:moveTo>
                  <a:lnTo>
                    <a:pt x="30480" y="2608072"/>
                  </a:lnTo>
                  <a:lnTo>
                    <a:pt x="15240" y="2608072"/>
                  </a:lnTo>
                  <a:lnTo>
                    <a:pt x="30480" y="2608072"/>
                  </a:lnTo>
                  <a:cubicBezTo>
                    <a:pt x="30480" y="2885948"/>
                    <a:pt x="256540" y="3111373"/>
                    <a:pt x="535432" y="3111373"/>
                  </a:cubicBezTo>
                  <a:lnTo>
                    <a:pt x="4162044" y="3111373"/>
                  </a:lnTo>
                  <a:cubicBezTo>
                    <a:pt x="4440936" y="3111373"/>
                    <a:pt x="4666996" y="2885948"/>
                    <a:pt x="4666996" y="2608072"/>
                  </a:cubicBezTo>
                  <a:lnTo>
                    <a:pt x="4666996" y="533781"/>
                  </a:lnTo>
                  <a:cubicBezTo>
                    <a:pt x="4666996" y="255905"/>
                    <a:pt x="4440936" y="30480"/>
                    <a:pt x="4162044" y="30480"/>
                  </a:cubicBezTo>
                  <a:lnTo>
                    <a:pt x="535559" y="30480"/>
                  </a:lnTo>
                  <a:lnTo>
                    <a:pt x="535559" y="15240"/>
                  </a:lnTo>
                  <a:lnTo>
                    <a:pt x="535559" y="30480"/>
                  </a:lnTo>
                  <a:cubicBezTo>
                    <a:pt x="256540" y="30480"/>
                    <a:pt x="30480" y="255905"/>
                    <a:pt x="30480" y="533781"/>
                  </a:cubicBezTo>
                  <a:close/>
                </a:path>
              </a:pathLst>
            </a:custGeom>
            <a:solidFill>
              <a:srgbClr val="7B8E6F"/>
            </a:solidFill>
          </p:spPr>
        </p:sp>
      </p:grpSp>
      <p:sp>
        <p:nvSpPr>
          <p:cNvPr name="TextBox 44" id="44"/>
          <p:cNvSpPr txBox="true"/>
          <p:nvPr/>
        </p:nvSpPr>
        <p:spPr>
          <a:xfrm rot="0">
            <a:off x="14088161" y="3311576"/>
            <a:ext cx="2914717"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04</a:t>
            </a:r>
          </a:p>
        </p:txBody>
      </p:sp>
      <p:sp>
        <p:nvSpPr>
          <p:cNvPr name="TextBox 45" id="45"/>
          <p:cNvSpPr txBox="true"/>
          <p:nvPr/>
        </p:nvSpPr>
        <p:spPr>
          <a:xfrm rot="0">
            <a:off x="14088161" y="3630378"/>
            <a:ext cx="2914717" cy="523875"/>
          </a:xfrm>
          <a:prstGeom prst="rect">
            <a:avLst/>
          </a:prstGeom>
        </p:spPr>
        <p:txBody>
          <a:bodyPr anchor="t" rtlCol="false" tIns="0" lIns="0" bIns="0" rIns="0">
            <a:spAutoFit/>
          </a:bodyPr>
          <a:lstStyle/>
          <a:p>
            <a:pPr algn="l">
              <a:lnSpc>
                <a:spcPts val="3602"/>
              </a:lnSpc>
            </a:pPr>
            <a:r>
              <a:rPr lang="en-US" sz="3002" b="true">
                <a:solidFill>
                  <a:srgbClr val="7B8E6F"/>
                </a:solidFill>
                <a:latin typeface="Consolas Bold"/>
                <a:ea typeface="Consolas Bold"/>
                <a:cs typeface="Consolas Bold"/>
                <a:sym typeface="Consolas Bold"/>
              </a:rPr>
              <a:t>Findings</a:t>
            </a:r>
          </a:p>
        </p:txBody>
      </p:sp>
      <p:sp>
        <p:nvSpPr>
          <p:cNvPr name="TextBox 46" id="46"/>
          <p:cNvSpPr txBox="true"/>
          <p:nvPr/>
        </p:nvSpPr>
        <p:spPr>
          <a:xfrm rot="0">
            <a:off x="14088161" y="4290374"/>
            <a:ext cx="2914717"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What it means</a:t>
            </a:r>
          </a:p>
        </p:txBody>
      </p:sp>
      <p:sp>
        <p:nvSpPr>
          <p:cNvPr name="TextBox 47" id="47"/>
          <p:cNvSpPr txBox="true"/>
          <p:nvPr/>
        </p:nvSpPr>
        <p:spPr>
          <a:xfrm rot="0">
            <a:off x="1345225" y="6370091"/>
            <a:ext cx="11576275" cy="2105025"/>
          </a:xfrm>
          <a:prstGeom prst="rect">
            <a:avLst/>
          </a:prstGeom>
        </p:spPr>
        <p:txBody>
          <a:bodyPr anchor="t" rtlCol="false" tIns="0" lIns="0" bIns="0" rIns="0">
            <a:spAutoFit/>
          </a:bodyPr>
          <a:lstStyle/>
          <a:p>
            <a:pPr algn="l">
              <a:lnSpc>
                <a:spcPts val="3242"/>
              </a:lnSpc>
            </a:pPr>
            <a:r>
              <a:rPr lang="en-US" sz="2702" b="true">
                <a:solidFill>
                  <a:srgbClr val="6F4336"/>
                </a:solidFill>
                <a:latin typeface="Consolas Bold"/>
                <a:ea typeface="Consolas Bold"/>
                <a:cs typeface="Consolas Bold"/>
                <a:sym typeface="Consolas Bold"/>
              </a:rPr>
              <a:t>The</a:t>
            </a:r>
            <a:r>
              <a:rPr lang="en-US" sz="2702" b="true">
                <a:solidFill>
                  <a:srgbClr val="6F4336"/>
                </a:solidFill>
                <a:latin typeface="Consolas Bold"/>
                <a:ea typeface="Consolas Bold"/>
                <a:cs typeface="Consolas Bold"/>
                <a:sym typeface="Consolas Bold"/>
              </a:rPr>
              <a:t> purpose of this project is to analyze 311 service request data to identify patterns in community needs and city service response. By examining request type, ward, time, status, and response time, this project demonstrates how resident concerns can be translated into clear data insights.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353151"/>
            <a:chOff x="0" y="0"/>
            <a:chExt cx="3294418" cy="3137535"/>
          </a:xfrm>
        </p:grpSpPr>
        <p:sp>
          <p:nvSpPr>
            <p:cNvPr name="Freeform 13" id="13" descr="image20.png"/>
            <p:cNvSpPr/>
            <p:nvPr/>
          </p:nvSpPr>
          <p:spPr>
            <a:xfrm flipH="false" flipV="false" rot="0">
              <a:off x="0" y="0"/>
              <a:ext cx="3294380" cy="3137535"/>
            </a:xfrm>
            <a:custGeom>
              <a:avLst/>
              <a:gdLst/>
              <a:ahLst/>
              <a:cxnLst/>
              <a:rect r="r" b="b" t="t" l="l"/>
              <a:pathLst>
                <a:path h="3137535" w="3294380">
                  <a:moveTo>
                    <a:pt x="0" y="0"/>
                  </a:moveTo>
                  <a:lnTo>
                    <a:pt x="3294380" y="0"/>
                  </a:lnTo>
                  <a:lnTo>
                    <a:pt x="3294380" y="3137535"/>
                  </a:lnTo>
                  <a:lnTo>
                    <a:pt x="0" y="3137535"/>
                  </a:lnTo>
                  <a:lnTo>
                    <a:pt x="0" y="0"/>
                  </a:lnTo>
                  <a:close/>
                </a:path>
              </a:pathLst>
            </a:custGeom>
            <a:blipFill>
              <a:blip r:embed="rId4"/>
              <a:stretch>
                <a:fillRect l="0" t="0" r="-1" b="0"/>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03</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DATASET</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Dataset Snapshot</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311 City Service Requests from DC Open Data</a:t>
            </a:r>
          </a:p>
        </p:txBody>
      </p:sp>
      <p:grpSp>
        <p:nvGrpSpPr>
          <p:cNvPr name="Group 20" id="20"/>
          <p:cNvGrpSpPr/>
          <p:nvPr/>
        </p:nvGrpSpPr>
        <p:grpSpPr>
          <a:xfrm rot="0">
            <a:off x="1155335" y="2665276"/>
            <a:ext cx="3317291" cy="1670085"/>
            <a:chOff x="0" y="0"/>
            <a:chExt cx="4423054" cy="2226780"/>
          </a:xfrm>
        </p:grpSpPr>
        <p:sp>
          <p:nvSpPr>
            <p:cNvPr name="Freeform 21" id="21"/>
            <p:cNvSpPr/>
            <p:nvPr/>
          </p:nvSpPr>
          <p:spPr>
            <a:xfrm flipH="false" flipV="false" rot="0">
              <a:off x="15240" y="15240"/>
              <a:ext cx="4392549" cy="2196211"/>
            </a:xfrm>
            <a:custGeom>
              <a:avLst/>
              <a:gdLst/>
              <a:ahLst/>
              <a:cxnLst/>
              <a:rect r="r" b="b" t="t" l="l"/>
              <a:pathLst>
                <a:path h="2196211" w="4392549">
                  <a:moveTo>
                    <a:pt x="0" y="366014"/>
                  </a:moveTo>
                  <a:cubicBezTo>
                    <a:pt x="0" y="163957"/>
                    <a:pt x="164973" y="0"/>
                    <a:pt x="368554" y="0"/>
                  </a:cubicBezTo>
                  <a:lnTo>
                    <a:pt x="4023995" y="0"/>
                  </a:lnTo>
                  <a:cubicBezTo>
                    <a:pt x="4227576" y="0"/>
                    <a:pt x="4392549" y="163830"/>
                    <a:pt x="4392549" y="366014"/>
                  </a:cubicBezTo>
                  <a:lnTo>
                    <a:pt x="4392549" y="1830197"/>
                  </a:lnTo>
                  <a:cubicBezTo>
                    <a:pt x="4392549" y="2032381"/>
                    <a:pt x="4227576" y="2196211"/>
                    <a:pt x="4023995" y="2196211"/>
                  </a:cubicBezTo>
                  <a:lnTo>
                    <a:pt x="368554" y="2196211"/>
                  </a:lnTo>
                  <a:cubicBezTo>
                    <a:pt x="164973" y="2196211"/>
                    <a:pt x="0" y="2032381"/>
                    <a:pt x="0" y="1830197"/>
                  </a:cubicBezTo>
                  <a:close/>
                </a:path>
              </a:pathLst>
            </a:custGeom>
            <a:solidFill>
              <a:srgbClr val="FFFAEE"/>
            </a:solidFill>
          </p:spPr>
        </p:sp>
        <p:sp>
          <p:nvSpPr>
            <p:cNvPr name="Freeform 22" id="22"/>
            <p:cNvSpPr/>
            <p:nvPr/>
          </p:nvSpPr>
          <p:spPr>
            <a:xfrm flipH="false" flipV="false" rot="0">
              <a:off x="0" y="0"/>
              <a:ext cx="4423029" cy="2226691"/>
            </a:xfrm>
            <a:custGeom>
              <a:avLst/>
              <a:gdLst/>
              <a:ahLst/>
              <a:cxnLst/>
              <a:rect r="r" b="b" t="t" l="l"/>
              <a:pathLst>
                <a:path h="2226691" w="4423029">
                  <a:moveTo>
                    <a:pt x="0" y="381254"/>
                  </a:moveTo>
                  <a:cubicBezTo>
                    <a:pt x="0" y="170561"/>
                    <a:pt x="171958" y="0"/>
                    <a:pt x="383794" y="0"/>
                  </a:cubicBezTo>
                  <a:lnTo>
                    <a:pt x="4039235" y="0"/>
                  </a:lnTo>
                  <a:lnTo>
                    <a:pt x="4039235" y="15240"/>
                  </a:lnTo>
                  <a:lnTo>
                    <a:pt x="4039235" y="0"/>
                  </a:lnTo>
                  <a:cubicBezTo>
                    <a:pt x="4251071" y="0"/>
                    <a:pt x="4423029" y="170561"/>
                    <a:pt x="4423029" y="381254"/>
                  </a:cubicBezTo>
                  <a:lnTo>
                    <a:pt x="4407789" y="381254"/>
                  </a:lnTo>
                  <a:lnTo>
                    <a:pt x="4423029" y="381254"/>
                  </a:lnTo>
                  <a:lnTo>
                    <a:pt x="4423029" y="1845437"/>
                  </a:lnTo>
                  <a:lnTo>
                    <a:pt x="4407789" y="1845437"/>
                  </a:lnTo>
                  <a:lnTo>
                    <a:pt x="4423029" y="1845437"/>
                  </a:lnTo>
                  <a:cubicBezTo>
                    <a:pt x="4423029" y="2056130"/>
                    <a:pt x="4251071" y="2226691"/>
                    <a:pt x="4039235" y="2226691"/>
                  </a:cubicBezTo>
                  <a:lnTo>
                    <a:pt x="4039235" y="2211451"/>
                  </a:lnTo>
                  <a:lnTo>
                    <a:pt x="4039235" y="2226691"/>
                  </a:lnTo>
                  <a:lnTo>
                    <a:pt x="383794" y="2226691"/>
                  </a:lnTo>
                  <a:lnTo>
                    <a:pt x="383794" y="2211451"/>
                  </a:lnTo>
                  <a:lnTo>
                    <a:pt x="383794" y="2226691"/>
                  </a:lnTo>
                  <a:cubicBezTo>
                    <a:pt x="171958" y="2226818"/>
                    <a:pt x="0" y="2056130"/>
                    <a:pt x="0" y="1845437"/>
                  </a:cubicBezTo>
                  <a:lnTo>
                    <a:pt x="0" y="381254"/>
                  </a:lnTo>
                  <a:lnTo>
                    <a:pt x="15240" y="381254"/>
                  </a:lnTo>
                  <a:lnTo>
                    <a:pt x="0" y="381254"/>
                  </a:lnTo>
                  <a:moveTo>
                    <a:pt x="30480" y="381254"/>
                  </a:moveTo>
                  <a:lnTo>
                    <a:pt x="30480" y="1845437"/>
                  </a:lnTo>
                  <a:lnTo>
                    <a:pt x="15240" y="1845437"/>
                  </a:lnTo>
                  <a:lnTo>
                    <a:pt x="30480" y="1845437"/>
                  </a:lnTo>
                  <a:cubicBezTo>
                    <a:pt x="30480" y="2039112"/>
                    <a:pt x="188595" y="2196211"/>
                    <a:pt x="383794" y="2196211"/>
                  </a:cubicBezTo>
                  <a:lnTo>
                    <a:pt x="4039235" y="2196211"/>
                  </a:lnTo>
                  <a:cubicBezTo>
                    <a:pt x="4234434" y="2196211"/>
                    <a:pt x="4392549" y="2039112"/>
                    <a:pt x="4392549" y="1845437"/>
                  </a:cubicBezTo>
                  <a:lnTo>
                    <a:pt x="4392549" y="381254"/>
                  </a:lnTo>
                  <a:cubicBezTo>
                    <a:pt x="4392549" y="187579"/>
                    <a:pt x="4234434" y="30480"/>
                    <a:pt x="4039235" y="30480"/>
                  </a:cubicBezTo>
                  <a:lnTo>
                    <a:pt x="383794" y="30480"/>
                  </a:lnTo>
                  <a:lnTo>
                    <a:pt x="383794" y="15240"/>
                  </a:lnTo>
                  <a:lnTo>
                    <a:pt x="383794" y="30480"/>
                  </a:lnTo>
                  <a:cubicBezTo>
                    <a:pt x="188595" y="30480"/>
                    <a:pt x="30480" y="187706"/>
                    <a:pt x="30480" y="381254"/>
                  </a:cubicBezTo>
                  <a:close/>
                </a:path>
              </a:pathLst>
            </a:custGeom>
            <a:solidFill>
              <a:srgbClr val="C25F4A"/>
            </a:solidFill>
          </p:spPr>
        </p:sp>
      </p:grpSp>
      <p:sp>
        <p:nvSpPr>
          <p:cNvPr name="TextBox 23" id="23"/>
          <p:cNvSpPr txBox="true"/>
          <p:nvPr/>
        </p:nvSpPr>
        <p:spPr>
          <a:xfrm rot="0">
            <a:off x="1459573" y="2831144"/>
            <a:ext cx="2708815"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ROWS</a:t>
            </a:r>
          </a:p>
        </p:txBody>
      </p:sp>
      <p:sp>
        <p:nvSpPr>
          <p:cNvPr name="TextBox 24" id="24"/>
          <p:cNvSpPr txBox="true"/>
          <p:nvPr/>
        </p:nvSpPr>
        <p:spPr>
          <a:xfrm rot="0">
            <a:off x="1459573" y="3149937"/>
            <a:ext cx="2708815"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440,600</a:t>
            </a:r>
          </a:p>
        </p:txBody>
      </p:sp>
      <p:sp>
        <p:nvSpPr>
          <p:cNvPr name="TextBox 25" id="25"/>
          <p:cNvSpPr txBox="true"/>
          <p:nvPr/>
        </p:nvSpPr>
        <p:spPr>
          <a:xfrm rot="0">
            <a:off x="1459573" y="3809943"/>
            <a:ext cx="2708815" cy="45720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Each row represents one 311 request</a:t>
            </a:r>
          </a:p>
        </p:txBody>
      </p:sp>
      <p:grpSp>
        <p:nvGrpSpPr>
          <p:cNvPr name="Group 26" id="26"/>
          <p:cNvGrpSpPr/>
          <p:nvPr/>
        </p:nvGrpSpPr>
        <p:grpSpPr>
          <a:xfrm rot="0">
            <a:off x="4861550" y="2665276"/>
            <a:ext cx="3317291" cy="1670085"/>
            <a:chOff x="0" y="0"/>
            <a:chExt cx="4423054" cy="2226780"/>
          </a:xfrm>
        </p:grpSpPr>
        <p:sp>
          <p:nvSpPr>
            <p:cNvPr name="Freeform 27" id="27"/>
            <p:cNvSpPr/>
            <p:nvPr/>
          </p:nvSpPr>
          <p:spPr>
            <a:xfrm flipH="false" flipV="false" rot="0">
              <a:off x="15240" y="15240"/>
              <a:ext cx="4392549" cy="2196211"/>
            </a:xfrm>
            <a:custGeom>
              <a:avLst/>
              <a:gdLst/>
              <a:ahLst/>
              <a:cxnLst/>
              <a:rect r="r" b="b" t="t" l="l"/>
              <a:pathLst>
                <a:path h="2196211" w="4392549">
                  <a:moveTo>
                    <a:pt x="0" y="366014"/>
                  </a:moveTo>
                  <a:cubicBezTo>
                    <a:pt x="0" y="163957"/>
                    <a:pt x="164973" y="0"/>
                    <a:pt x="368554" y="0"/>
                  </a:cubicBezTo>
                  <a:lnTo>
                    <a:pt x="4023995" y="0"/>
                  </a:lnTo>
                  <a:cubicBezTo>
                    <a:pt x="4227576" y="0"/>
                    <a:pt x="4392549" y="163830"/>
                    <a:pt x="4392549" y="366014"/>
                  </a:cubicBezTo>
                  <a:lnTo>
                    <a:pt x="4392549" y="1830197"/>
                  </a:lnTo>
                  <a:cubicBezTo>
                    <a:pt x="4392549" y="2032381"/>
                    <a:pt x="4227576" y="2196211"/>
                    <a:pt x="4023995" y="2196211"/>
                  </a:cubicBezTo>
                  <a:lnTo>
                    <a:pt x="368554" y="2196211"/>
                  </a:lnTo>
                  <a:cubicBezTo>
                    <a:pt x="164973" y="2196211"/>
                    <a:pt x="0" y="2032381"/>
                    <a:pt x="0" y="1830197"/>
                  </a:cubicBezTo>
                  <a:close/>
                </a:path>
              </a:pathLst>
            </a:custGeom>
            <a:solidFill>
              <a:srgbClr val="FFFAEE"/>
            </a:solidFill>
          </p:spPr>
        </p:sp>
        <p:sp>
          <p:nvSpPr>
            <p:cNvPr name="Freeform 28" id="28"/>
            <p:cNvSpPr/>
            <p:nvPr/>
          </p:nvSpPr>
          <p:spPr>
            <a:xfrm flipH="false" flipV="false" rot="0">
              <a:off x="0" y="0"/>
              <a:ext cx="4423029" cy="2226691"/>
            </a:xfrm>
            <a:custGeom>
              <a:avLst/>
              <a:gdLst/>
              <a:ahLst/>
              <a:cxnLst/>
              <a:rect r="r" b="b" t="t" l="l"/>
              <a:pathLst>
                <a:path h="2226691" w="4423029">
                  <a:moveTo>
                    <a:pt x="0" y="381254"/>
                  </a:moveTo>
                  <a:cubicBezTo>
                    <a:pt x="0" y="170561"/>
                    <a:pt x="171958" y="0"/>
                    <a:pt x="383794" y="0"/>
                  </a:cubicBezTo>
                  <a:lnTo>
                    <a:pt x="4039235" y="0"/>
                  </a:lnTo>
                  <a:lnTo>
                    <a:pt x="4039235" y="15240"/>
                  </a:lnTo>
                  <a:lnTo>
                    <a:pt x="4039235" y="0"/>
                  </a:lnTo>
                  <a:cubicBezTo>
                    <a:pt x="4251071" y="0"/>
                    <a:pt x="4423029" y="170561"/>
                    <a:pt x="4423029" y="381254"/>
                  </a:cubicBezTo>
                  <a:lnTo>
                    <a:pt x="4407789" y="381254"/>
                  </a:lnTo>
                  <a:lnTo>
                    <a:pt x="4423029" y="381254"/>
                  </a:lnTo>
                  <a:lnTo>
                    <a:pt x="4423029" y="1845437"/>
                  </a:lnTo>
                  <a:lnTo>
                    <a:pt x="4407789" y="1845437"/>
                  </a:lnTo>
                  <a:lnTo>
                    <a:pt x="4423029" y="1845437"/>
                  </a:lnTo>
                  <a:cubicBezTo>
                    <a:pt x="4423029" y="2056130"/>
                    <a:pt x="4251071" y="2226691"/>
                    <a:pt x="4039235" y="2226691"/>
                  </a:cubicBezTo>
                  <a:lnTo>
                    <a:pt x="4039235" y="2211451"/>
                  </a:lnTo>
                  <a:lnTo>
                    <a:pt x="4039235" y="2226691"/>
                  </a:lnTo>
                  <a:lnTo>
                    <a:pt x="383794" y="2226691"/>
                  </a:lnTo>
                  <a:lnTo>
                    <a:pt x="383794" y="2211451"/>
                  </a:lnTo>
                  <a:lnTo>
                    <a:pt x="383794" y="2226691"/>
                  </a:lnTo>
                  <a:cubicBezTo>
                    <a:pt x="171958" y="2226818"/>
                    <a:pt x="0" y="2056130"/>
                    <a:pt x="0" y="1845437"/>
                  </a:cubicBezTo>
                  <a:lnTo>
                    <a:pt x="0" y="381254"/>
                  </a:lnTo>
                  <a:lnTo>
                    <a:pt x="15240" y="381254"/>
                  </a:lnTo>
                  <a:lnTo>
                    <a:pt x="0" y="381254"/>
                  </a:lnTo>
                  <a:moveTo>
                    <a:pt x="30480" y="381254"/>
                  </a:moveTo>
                  <a:lnTo>
                    <a:pt x="30480" y="1845437"/>
                  </a:lnTo>
                  <a:lnTo>
                    <a:pt x="15240" y="1845437"/>
                  </a:lnTo>
                  <a:lnTo>
                    <a:pt x="30480" y="1845437"/>
                  </a:lnTo>
                  <a:cubicBezTo>
                    <a:pt x="30480" y="2039112"/>
                    <a:pt x="188595" y="2196211"/>
                    <a:pt x="383794" y="2196211"/>
                  </a:cubicBezTo>
                  <a:lnTo>
                    <a:pt x="4039235" y="2196211"/>
                  </a:lnTo>
                  <a:cubicBezTo>
                    <a:pt x="4234434" y="2196211"/>
                    <a:pt x="4392549" y="2039112"/>
                    <a:pt x="4392549" y="1845437"/>
                  </a:cubicBezTo>
                  <a:lnTo>
                    <a:pt x="4392549" y="381254"/>
                  </a:lnTo>
                  <a:cubicBezTo>
                    <a:pt x="4392549" y="187579"/>
                    <a:pt x="4234434" y="30480"/>
                    <a:pt x="4039235" y="30480"/>
                  </a:cubicBezTo>
                  <a:lnTo>
                    <a:pt x="383794" y="30480"/>
                  </a:lnTo>
                  <a:lnTo>
                    <a:pt x="383794" y="15240"/>
                  </a:lnTo>
                  <a:lnTo>
                    <a:pt x="383794" y="30480"/>
                  </a:lnTo>
                  <a:cubicBezTo>
                    <a:pt x="188595" y="30480"/>
                    <a:pt x="30480" y="187706"/>
                    <a:pt x="30480" y="381254"/>
                  </a:cubicBezTo>
                  <a:close/>
                </a:path>
              </a:pathLst>
            </a:custGeom>
            <a:solidFill>
              <a:srgbClr val="4A9BC1"/>
            </a:solidFill>
          </p:spPr>
        </p:sp>
      </p:grpSp>
      <p:sp>
        <p:nvSpPr>
          <p:cNvPr name="TextBox 29" id="29"/>
          <p:cNvSpPr txBox="true"/>
          <p:nvPr/>
        </p:nvSpPr>
        <p:spPr>
          <a:xfrm rot="0">
            <a:off x="5165789" y="2831144"/>
            <a:ext cx="2708815"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ORIGINAL COLUMNS</a:t>
            </a:r>
          </a:p>
        </p:txBody>
      </p:sp>
      <p:sp>
        <p:nvSpPr>
          <p:cNvPr name="TextBox 30" id="30"/>
          <p:cNvSpPr txBox="true"/>
          <p:nvPr/>
        </p:nvSpPr>
        <p:spPr>
          <a:xfrm rot="0">
            <a:off x="5165789" y="3149937"/>
            <a:ext cx="2708815" cy="523875"/>
          </a:xfrm>
          <a:prstGeom prst="rect">
            <a:avLst/>
          </a:prstGeom>
        </p:spPr>
        <p:txBody>
          <a:bodyPr anchor="t" rtlCol="false" tIns="0" lIns="0" bIns="0" rIns="0">
            <a:spAutoFit/>
          </a:bodyPr>
          <a:lstStyle/>
          <a:p>
            <a:pPr algn="l">
              <a:lnSpc>
                <a:spcPts val="3602"/>
              </a:lnSpc>
            </a:pPr>
            <a:r>
              <a:rPr lang="en-US" sz="3002" b="true">
                <a:solidFill>
                  <a:srgbClr val="4A9BC1"/>
                </a:solidFill>
                <a:latin typeface="Consolas Bold"/>
                <a:ea typeface="Consolas Bold"/>
                <a:cs typeface="Consolas Bold"/>
                <a:sym typeface="Consolas Bold"/>
              </a:rPr>
              <a:t>33</a:t>
            </a:r>
          </a:p>
        </p:txBody>
      </p:sp>
      <p:sp>
        <p:nvSpPr>
          <p:cNvPr name="TextBox 31" id="31"/>
          <p:cNvSpPr txBox="true"/>
          <p:nvPr/>
        </p:nvSpPr>
        <p:spPr>
          <a:xfrm rot="0">
            <a:off x="5165789" y="3809943"/>
            <a:ext cx="2708815" cy="45720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Columns from the raw dataset</a:t>
            </a:r>
          </a:p>
        </p:txBody>
      </p:sp>
      <p:grpSp>
        <p:nvGrpSpPr>
          <p:cNvPr name="Group 32" id="32"/>
          <p:cNvGrpSpPr/>
          <p:nvPr/>
        </p:nvGrpSpPr>
        <p:grpSpPr>
          <a:xfrm rot="0">
            <a:off x="8567766" y="2665276"/>
            <a:ext cx="3317291" cy="1670085"/>
            <a:chOff x="0" y="0"/>
            <a:chExt cx="4423054" cy="2226780"/>
          </a:xfrm>
        </p:grpSpPr>
        <p:sp>
          <p:nvSpPr>
            <p:cNvPr name="Freeform 33" id="33"/>
            <p:cNvSpPr/>
            <p:nvPr/>
          </p:nvSpPr>
          <p:spPr>
            <a:xfrm flipH="false" flipV="false" rot="0">
              <a:off x="15240" y="15240"/>
              <a:ext cx="4392549" cy="2196211"/>
            </a:xfrm>
            <a:custGeom>
              <a:avLst/>
              <a:gdLst/>
              <a:ahLst/>
              <a:cxnLst/>
              <a:rect r="r" b="b" t="t" l="l"/>
              <a:pathLst>
                <a:path h="2196211" w="4392549">
                  <a:moveTo>
                    <a:pt x="0" y="366014"/>
                  </a:moveTo>
                  <a:cubicBezTo>
                    <a:pt x="0" y="163957"/>
                    <a:pt x="164973" y="0"/>
                    <a:pt x="368554" y="0"/>
                  </a:cubicBezTo>
                  <a:lnTo>
                    <a:pt x="4023995" y="0"/>
                  </a:lnTo>
                  <a:cubicBezTo>
                    <a:pt x="4227576" y="0"/>
                    <a:pt x="4392549" y="163830"/>
                    <a:pt x="4392549" y="366014"/>
                  </a:cubicBezTo>
                  <a:lnTo>
                    <a:pt x="4392549" y="1830197"/>
                  </a:lnTo>
                  <a:cubicBezTo>
                    <a:pt x="4392549" y="2032381"/>
                    <a:pt x="4227576" y="2196211"/>
                    <a:pt x="4023995" y="2196211"/>
                  </a:cubicBezTo>
                  <a:lnTo>
                    <a:pt x="368554" y="2196211"/>
                  </a:lnTo>
                  <a:cubicBezTo>
                    <a:pt x="164973" y="2196211"/>
                    <a:pt x="0" y="2032381"/>
                    <a:pt x="0" y="1830197"/>
                  </a:cubicBezTo>
                  <a:close/>
                </a:path>
              </a:pathLst>
            </a:custGeom>
            <a:solidFill>
              <a:srgbClr val="FFFAEE"/>
            </a:solidFill>
          </p:spPr>
        </p:sp>
        <p:sp>
          <p:nvSpPr>
            <p:cNvPr name="Freeform 34" id="34"/>
            <p:cNvSpPr/>
            <p:nvPr/>
          </p:nvSpPr>
          <p:spPr>
            <a:xfrm flipH="false" flipV="false" rot="0">
              <a:off x="0" y="0"/>
              <a:ext cx="4423029" cy="2226691"/>
            </a:xfrm>
            <a:custGeom>
              <a:avLst/>
              <a:gdLst/>
              <a:ahLst/>
              <a:cxnLst/>
              <a:rect r="r" b="b" t="t" l="l"/>
              <a:pathLst>
                <a:path h="2226691" w="4423029">
                  <a:moveTo>
                    <a:pt x="0" y="381254"/>
                  </a:moveTo>
                  <a:cubicBezTo>
                    <a:pt x="0" y="170561"/>
                    <a:pt x="171958" y="0"/>
                    <a:pt x="383794" y="0"/>
                  </a:cubicBezTo>
                  <a:lnTo>
                    <a:pt x="4039235" y="0"/>
                  </a:lnTo>
                  <a:lnTo>
                    <a:pt x="4039235" y="15240"/>
                  </a:lnTo>
                  <a:lnTo>
                    <a:pt x="4039235" y="0"/>
                  </a:lnTo>
                  <a:cubicBezTo>
                    <a:pt x="4251071" y="0"/>
                    <a:pt x="4423029" y="170561"/>
                    <a:pt x="4423029" y="381254"/>
                  </a:cubicBezTo>
                  <a:lnTo>
                    <a:pt x="4407789" y="381254"/>
                  </a:lnTo>
                  <a:lnTo>
                    <a:pt x="4423029" y="381254"/>
                  </a:lnTo>
                  <a:lnTo>
                    <a:pt x="4423029" y="1845437"/>
                  </a:lnTo>
                  <a:lnTo>
                    <a:pt x="4407789" y="1845437"/>
                  </a:lnTo>
                  <a:lnTo>
                    <a:pt x="4423029" y="1845437"/>
                  </a:lnTo>
                  <a:cubicBezTo>
                    <a:pt x="4423029" y="2056130"/>
                    <a:pt x="4251071" y="2226691"/>
                    <a:pt x="4039235" y="2226691"/>
                  </a:cubicBezTo>
                  <a:lnTo>
                    <a:pt x="4039235" y="2211451"/>
                  </a:lnTo>
                  <a:lnTo>
                    <a:pt x="4039235" y="2226691"/>
                  </a:lnTo>
                  <a:lnTo>
                    <a:pt x="383794" y="2226691"/>
                  </a:lnTo>
                  <a:lnTo>
                    <a:pt x="383794" y="2211451"/>
                  </a:lnTo>
                  <a:lnTo>
                    <a:pt x="383794" y="2226691"/>
                  </a:lnTo>
                  <a:cubicBezTo>
                    <a:pt x="171958" y="2226818"/>
                    <a:pt x="0" y="2056130"/>
                    <a:pt x="0" y="1845437"/>
                  </a:cubicBezTo>
                  <a:lnTo>
                    <a:pt x="0" y="381254"/>
                  </a:lnTo>
                  <a:lnTo>
                    <a:pt x="15240" y="381254"/>
                  </a:lnTo>
                  <a:lnTo>
                    <a:pt x="0" y="381254"/>
                  </a:lnTo>
                  <a:moveTo>
                    <a:pt x="30480" y="381254"/>
                  </a:moveTo>
                  <a:lnTo>
                    <a:pt x="30480" y="1845437"/>
                  </a:lnTo>
                  <a:lnTo>
                    <a:pt x="15240" y="1845437"/>
                  </a:lnTo>
                  <a:lnTo>
                    <a:pt x="30480" y="1845437"/>
                  </a:lnTo>
                  <a:cubicBezTo>
                    <a:pt x="30480" y="2039112"/>
                    <a:pt x="188595" y="2196211"/>
                    <a:pt x="383794" y="2196211"/>
                  </a:cubicBezTo>
                  <a:lnTo>
                    <a:pt x="4039235" y="2196211"/>
                  </a:lnTo>
                  <a:cubicBezTo>
                    <a:pt x="4234434" y="2196211"/>
                    <a:pt x="4392549" y="2039112"/>
                    <a:pt x="4392549" y="1845437"/>
                  </a:cubicBezTo>
                  <a:lnTo>
                    <a:pt x="4392549" y="381254"/>
                  </a:lnTo>
                  <a:cubicBezTo>
                    <a:pt x="4392549" y="187579"/>
                    <a:pt x="4234434" y="30480"/>
                    <a:pt x="4039235" y="30480"/>
                  </a:cubicBezTo>
                  <a:lnTo>
                    <a:pt x="383794" y="30480"/>
                  </a:lnTo>
                  <a:lnTo>
                    <a:pt x="383794" y="15240"/>
                  </a:lnTo>
                  <a:lnTo>
                    <a:pt x="383794" y="30480"/>
                  </a:lnTo>
                  <a:cubicBezTo>
                    <a:pt x="188595" y="30480"/>
                    <a:pt x="30480" y="187706"/>
                    <a:pt x="30480" y="381254"/>
                  </a:cubicBezTo>
                  <a:close/>
                </a:path>
              </a:pathLst>
            </a:custGeom>
            <a:solidFill>
              <a:srgbClr val="CAA652"/>
            </a:solidFill>
          </p:spPr>
        </p:sp>
      </p:grpSp>
      <p:sp>
        <p:nvSpPr>
          <p:cNvPr name="TextBox 35" id="35"/>
          <p:cNvSpPr txBox="true"/>
          <p:nvPr/>
        </p:nvSpPr>
        <p:spPr>
          <a:xfrm rot="0">
            <a:off x="8872004" y="2831144"/>
            <a:ext cx="2708815"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AFTER CLEANING</a:t>
            </a:r>
          </a:p>
        </p:txBody>
      </p:sp>
      <p:sp>
        <p:nvSpPr>
          <p:cNvPr name="TextBox 36" id="36"/>
          <p:cNvSpPr txBox="true"/>
          <p:nvPr/>
        </p:nvSpPr>
        <p:spPr>
          <a:xfrm rot="0">
            <a:off x="8872004" y="3149937"/>
            <a:ext cx="2708815" cy="523875"/>
          </a:xfrm>
          <a:prstGeom prst="rect">
            <a:avLst/>
          </a:prstGeom>
        </p:spPr>
        <p:txBody>
          <a:bodyPr anchor="t" rtlCol="false" tIns="0" lIns="0" bIns="0" rIns="0">
            <a:spAutoFit/>
          </a:bodyPr>
          <a:lstStyle/>
          <a:p>
            <a:pPr algn="l">
              <a:lnSpc>
                <a:spcPts val="3602"/>
              </a:lnSpc>
            </a:pPr>
            <a:r>
              <a:rPr lang="en-US" sz="3002" b="true">
                <a:solidFill>
                  <a:srgbClr val="CAA652"/>
                </a:solidFill>
                <a:latin typeface="Consolas Bold"/>
                <a:ea typeface="Consolas Bold"/>
                <a:cs typeface="Consolas Bold"/>
                <a:sym typeface="Consolas Bold"/>
              </a:rPr>
              <a:t>39</a:t>
            </a:r>
          </a:p>
        </p:txBody>
      </p:sp>
      <p:sp>
        <p:nvSpPr>
          <p:cNvPr name="TextBox 37" id="37"/>
          <p:cNvSpPr txBox="true"/>
          <p:nvPr/>
        </p:nvSpPr>
        <p:spPr>
          <a:xfrm rot="0">
            <a:off x="8872004" y="3809943"/>
            <a:ext cx="2708815" cy="45720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New time and response fields created</a:t>
            </a:r>
          </a:p>
        </p:txBody>
      </p:sp>
      <p:grpSp>
        <p:nvGrpSpPr>
          <p:cNvPr name="Group 38" id="38"/>
          <p:cNvGrpSpPr/>
          <p:nvPr/>
        </p:nvGrpSpPr>
        <p:grpSpPr>
          <a:xfrm rot="0">
            <a:off x="12273982" y="2665276"/>
            <a:ext cx="3317291" cy="1670085"/>
            <a:chOff x="0" y="0"/>
            <a:chExt cx="4423054" cy="2226780"/>
          </a:xfrm>
        </p:grpSpPr>
        <p:sp>
          <p:nvSpPr>
            <p:cNvPr name="Freeform 39" id="39"/>
            <p:cNvSpPr/>
            <p:nvPr/>
          </p:nvSpPr>
          <p:spPr>
            <a:xfrm flipH="false" flipV="false" rot="0">
              <a:off x="15240" y="15240"/>
              <a:ext cx="4392549" cy="2196211"/>
            </a:xfrm>
            <a:custGeom>
              <a:avLst/>
              <a:gdLst/>
              <a:ahLst/>
              <a:cxnLst/>
              <a:rect r="r" b="b" t="t" l="l"/>
              <a:pathLst>
                <a:path h="2196211" w="4392549">
                  <a:moveTo>
                    <a:pt x="0" y="366014"/>
                  </a:moveTo>
                  <a:cubicBezTo>
                    <a:pt x="0" y="163957"/>
                    <a:pt x="164973" y="0"/>
                    <a:pt x="368554" y="0"/>
                  </a:cubicBezTo>
                  <a:lnTo>
                    <a:pt x="4023995" y="0"/>
                  </a:lnTo>
                  <a:cubicBezTo>
                    <a:pt x="4227576" y="0"/>
                    <a:pt x="4392549" y="163830"/>
                    <a:pt x="4392549" y="366014"/>
                  </a:cubicBezTo>
                  <a:lnTo>
                    <a:pt x="4392549" y="1830197"/>
                  </a:lnTo>
                  <a:cubicBezTo>
                    <a:pt x="4392549" y="2032381"/>
                    <a:pt x="4227576" y="2196211"/>
                    <a:pt x="4023995" y="2196211"/>
                  </a:cubicBezTo>
                  <a:lnTo>
                    <a:pt x="368554" y="2196211"/>
                  </a:lnTo>
                  <a:cubicBezTo>
                    <a:pt x="164973" y="2196211"/>
                    <a:pt x="0" y="2032381"/>
                    <a:pt x="0" y="1830197"/>
                  </a:cubicBezTo>
                  <a:close/>
                </a:path>
              </a:pathLst>
            </a:custGeom>
            <a:solidFill>
              <a:srgbClr val="FFFAEE"/>
            </a:solidFill>
          </p:spPr>
        </p:sp>
        <p:sp>
          <p:nvSpPr>
            <p:cNvPr name="Freeform 40" id="40"/>
            <p:cNvSpPr/>
            <p:nvPr/>
          </p:nvSpPr>
          <p:spPr>
            <a:xfrm flipH="false" flipV="false" rot="0">
              <a:off x="0" y="0"/>
              <a:ext cx="4423029" cy="2226691"/>
            </a:xfrm>
            <a:custGeom>
              <a:avLst/>
              <a:gdLst/>
              <a:ahLst/>
              <a:cxnLst/>
              <a:rect r="r" b="b" t="t" l="l"/>
              <a:pathLst>
                <a:path h="2226691" w="4423029">
                  <a:moveTo>
                    <a:pt x="0" y="381254"/>
                  </a:moveTo>
                  <a:cubicBezTo>
                    <a:pt x="0" y="170561"/>
                    <a:pt x="171958" y="0"/>
                    <a:pt x="383794" y="0"/>
                  </a:cubicBezTo>
                  <a:lnTo>
                    <a:pt x="4039235" y="0"/>
                  </a:lnTo>
                  <a:lnTo>
                    <a:pt x="4039235" y="15240"/>
                  </a:lnTo>
                  <a:lnTo>
                    <a:pt x="4039235" y="0"/>
                  </a:lnTo>
                  <a:cubicBezTo>
                    <a:pt x="4251071" y="0"/>
                    <a:pt x="4423029" y="170561"/>
                    <a:pt x="4423029" y="381254"/>
                  </a:cubicBezTo>
                  <a:lnTo>
                    <a:pt x="4407789" y="381254"/>
                  </a:lnTo>
                  <a:lnTo>
                    <a:pt x="4423029" y="381254"/>
                  </a:lnTo>
                  <a:lnTo>
                    <a:pt x="4423029" y="1845437"/>
                  </a:lnTo>
                  <a:lnTo>
                    <a:pt x="4407789" y="1845437"/>
                  </a:lnTo>
                  <a:lnTo>
                    <a:pt x="4423029" y="1845437"/>
                  </a:lnTo>
                  <a:cubicBezTo>
                    <a:pt x="4423029" y="2056130"/>
                    <a:pt x="4251071" y="2226691"/>
                    <a:pt x="4039235" y="2226691"/>
                  </a:cubicBezTo>
                  <a:lnTo>
                    <a:pt x="4039235" y="2211451"/>
                  </a:lnTo>
                  <a:lnTo>
                    <a:pt x="4039235" y="2226691"/>
                  </a:lnTo>
                  <a:lnTo>
                    <a:pt x="383794" y="2226691"/>
                  </a:lnTo>
                  <a:lnTo>
                    <a:pt x="383794" y="2211451"/>
                  </a:lnTo>
                  <a:lnTo>
                    <a:pt x="383794" y="2226691"/>
                  </a:lnTo>
                  <a:cubicBezTo>
                    <a:pt x="171958" y="2226818"/>
                    <a:pt x="0" y="2056130"/>
                    <a:pt x="0" y="1845437"/>
                  </a:cubicBezTo>
                  <a:lnTo>
                    <a:pt x="0" y="381254"/>
                  </a:lnTo>
                  <a:lnTo>
                    <a:pt x="15240" y="381254"/>
                  </a:lnTo>
                  <a:lnTo>
                    <a:pt x="0" y="381254"/>
                  </a:lnTo>
                  <a:moveTo>
                    <a:pt x="30480" y="381254"/>
                  </a:moveTo>
                  <a:lnTo>
                    <a:pt x="30480" y="1845437"/>
                  </a:lnTo>
                  <a:lnTo>
                    <a:pt x="15240" y="1845437"/>
                  </a:lnTo>
                  <a:lnTo>
                    <a:pt x="30480" y="1845437"/>
                  </a:lnTo>
                  <a:cubicBezTo>
                    <a:pt x="30480" y="2039112"/>
                    <a:pt x="188595" y="2196211"/>
                    <a:pt x="383794" y="2196211"/>
                  </a:cubicBezTo>
                  <a:lnTo>
                    <a:pt x="4039235" y="2196211"/>
                  </a:lnTo>
                  <a:cubicBezTo>
                    <a:pt x="4234434" y="2196211"/>
                    <a:pt x="4392549" y="2039112"/>
                    <a:pt x="4392549" y="1845437"/>
                  </a:cubicBezTo>
                  <a:lnTo>
                    <a:pt x="4392549" y="381254"/>
                  </a:lnTo>
                  <a:cubicBezTo>
                    <a:pt x="4392549" y="187579"/>
                    <a:pt x="4234434" y="30480"/>
                    <a:pt x="4039235" y="30480"/>
                  </a:cubicBezTo>
                  <a:lnTo>
                    <a:pt x="383794" y="30480"/>
                  </a:lnTo>
                  <a:lnTo>
                    <a:pt x="383794" y="15240"/>
                  </a:lnTo>
                  <a:lnTo>
                    <a:pt x="383794" y="30480"/>
                  </a:lnTo>
                  <a:cubicBezTo>
                    <a:pt x="188595" y="30480"/>
                    <a:pt x="30480" y="187706"/>
                    <a:pt x="30480" y="381254"/>
                  </a:cubicBezTo>
                  <a:close/>
                </a:path>
              </a:pathLst>
            </a:custGeom>
            <a:solidFill>
              <a:srgbClr val="7B8E6F"/>
            </a:solidFill>
          </p:spPr>
        </p:sp>
      </p:grpSp>
      <p:sp>
        <p:nvSpPr>
          <p:cNvPr name="TextBox 41" id="41"/>
          <p:cNvSpPr txBox="true"/>
          <p:nvPr/>
        </p:nvSpPr>
        <p:spPr>
          <a:xfrm rot="0">
            <a:off x="12578220" y="2831144"/>
            <a:ext cx="2708815"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WARDS</a:t>
            </a:r>
          </a:p>
        </p:txBody>
      </p:sp>
      <p:sp>
        <p:nvSpPr>
          <p:cNvPr name="TextBox 42" id="42"/>
          <p:cNvSpPr txBox="true"/>
          <p:nvPr/>
        </p:nvSpPr>
        <p:spPr>
          <a:xfrm rot="0">
            <a:off x="12578220" y="3149937"/>
            <a:ext cx="2708815" cy="523875"/>
          </a:xfrm>
          <a:prstGeom prst="rect">
            <a:avLst/>
          </a:prstGeom>
        </p:spPr>
        <p:txBody>
          <a:bodyPr anchor="t" rtlCol="false" tIns="0" lIns="0" bIns="0" rIns="0">
            <a:spAutoFit/>
          </a:bodyPr>
          <a:lstStyle/>
          <a:p>
            <a:pPr algn="l">
              <a:lnSpc>
                <a:spcPts val="3602"/>
              </a:lnSpc>
            </a:pPr>
            <a:r>
              <a:rPr lang="en-US" sz="3002" b="true">
                <a:solidFill>
                  <a:srgbClr val="7B8E6F"/>
                </a:solidFill>
                <a:latin typeface="Consolas Bold"/>
                <a:ea typeface="Consolas Bold"/>
                <a:cs typeface="Consolas Bold"/>
                <a:sym typeface="Consolas Bold"/>
              </a:rPr>
              <a:t>8</a:t>
            </a:r>
          </a:p>
        </p:txBody>
      </p:sp>
      <p:sp>
        <p:nvSpPr>
          <p:cNvPr name="TextBox 43" id="43"/>
          <p:cNvSpPr txBox="true"/>
          <p:nvPr/>
        </p:nvSpPr>
        <p:spPr>
          <a:xfrm rot="0">
            <a:off x="12578220" y="3809943"/>
            <a:ext cx="2708815" cy="45720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All DC wards are represented</a:t>
            </a:r>
          </a:p>
        </p:txBody>
      </p:sp>
      <p:grpSp>
        <p:nvGrpSpPr>
          <p:cNvPr name="Group 44" id="44"/>
          <p:cNvGrpSpPr/>
          <p:nvPr/>
        </p:nvGrpSpPr>
        <p:grpSpPr>
          <a:xfrm rot="0">
            <a:off x="1166774" y="5106343"/>
            <a:ext cx="3019882" cy="466709"/>
            <a:chOff x="0" y="0"/>
            <a:chExt cx="4026510" cy="622278"/>
          </a:xfrm>
        </p:grpSpPr>
        <p:sp>
          <p:nvSpPr>
            <p:cNvPr name="Freeform 45" id="45"/>
            <p:cNvSpPr/>
            <p:nvPr/>
          </p:nvSpPr>
          <p:spPr>
            <a:xfrm flipH="false" flipV="false" rot="0">
              <a:off x="0" y="0"/>
              <a:ext cx="4026535" cy="622304"/>
            </a:xfrm>
            <a:custGeom>
              <a:avLst/>
              <a:gdLst/>
              <a:ahLst/>
              <a:cxnLst/>
              <a:rect r="r" b="b" t="t" l="l"/>
              <a:pathLst>
                <a:path h="622304" w="4026535">
                  <a:moveTo>
                    <a:pt x="0" y="103760"/>
                  </a:moveTo>
                  <a:cubicBezTo>
                    <a:pt x="0" y="46482"/>
                    <a:pt x="46482" y="0"/>
                    <a:pt x="103759" y="0"/>
                  </a:cubicBezTo>
                  <a:lnTo>
                    <a:pt x="3922776" y="0"/>
                  </a:lnTo>
                  <a:cubicBezTo>
                    <a:pt x="3980053" y="0"/>
                    <a:pt x="4026535" y="46482"/>
                    <a:pt x="4026535" y="103760"/>
                  </a:cubicBezTo>
                  <a:lnTo>
                    <a:pt x="4026535" y="518544"/>
                  </a:lnTo>
                  <a:cubicBezTo>
                    <a:pt x="4026535" y="575821"/>
                    <a:pt x="3980053" y="622304"/>
                    <a:pt x="3922776" y="622304"/>
                  </a:cubicBezTo>
                  <a:lnTo>
                    <a:pt x="103759" y="622304"/>
                  </a:lnTo>
                  <a:cubicBezTo>
                    <a:pt x="46482" y="622304"/>
                    <a:pt x="0" y="575821"/>
                    <a:pt x="0" y="518544"/>
                  </a:cubicBezTo>
                  <a:close/>
                </a:path>
              </a:pathLst>
            </a:custGeom>
            <a:solidFill>
              <a:srgbClr val="4A9BC1"/>
            </a:solidFill>
          </p:spPr>
        </p:sp>
        <p:sp>
          <p:nvSpPr>
            <p:cNvPr name="TextBox 46" id="46"/>
            <p:cNvSpPr txBox="true"/>
            <p:nvPr/>
          </p:nvSpPr>
          <p:spPr>
            <a:xfrm>
              <a:off x="0" y="-38100"/>
              <a:ext cx="4026510"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Key fields I used</a:t>
              </a:r>
            </a:p>
          </p:txBody>
        </p:sp>
      </p:grpSp>
      <p:sp>
        <p:nvSpPr>
          <p:cNvPr name="TextBox 47" id="47"/>
          <p:cNvSpPr txBox="true"/>
          <p:nvPr/>
        </p:nvSpPr>
        <p:spPr>
          <a:xfrm rot="0">
            <a:off x="1281122" y="5667251"/>
            <a:ext cx="12056707" cy="1666875"/>
          </a:xfrm>
          <a:prstGeom prst="rect">
            <a:avLst/>
          </a:prstGeom>
        </p:spPr>
        <p:txBody>
          <a:bodyPr anchor="t" rtlCol="false" tIns="0" lIns="0" bIns="0" rIns="0">
            <a:spAutoFit/>
          </a:bodyPr>
          <a:lstStyle/>
          <a:p>
            <a:pPr algn="l">
              <a:lnSpc>
                <a:spcPts val="2612"/>
              </a:lnSpc>
            </a:pPr>
            <a:r>
              <a:rPr lang="en-US" sz="2176">
                <a:solidFill>
                  <a:srgbClr val="3D2A26"/>
                </a:solidFill>
                <a:latin typeface="Consolas"/>
                <a:ea typeface="Consolas"/>
                <a:cs typeface="Consolas"/>
                <a:sym typeface="Consolas"/>
              </a:rPr>
              <a:t>• SERVICECODE and SERVICECODEDESCRIPTION: request type</a:t>
            </a:r>
          </a:p>
          <a:p>
            <a:pPr algn="l">
              <a:lnSpc>
                <a:spcPts val="2612"/>
              </a:lnSpc>
            </a:pPr>
            <a:r>
              <a:rPr lang="en-US" sz="2176">
                <a:solidFill>
                  <a:srgbClr val="3D2A26"/>
                </a:solidFill>
                <a:latin typeface="Consolas"/>
                <a:ea typeface="Consolas"/>
                <a:cs typeface="Consolas"/>
                <a:sym typeface="Consolas"/>
              </a:rPr>
              <a:t>• SERVICEORDERSTATUS: closed, open, duplicate, canceled, or in progress</a:t>
            </a:r>
          </a:p>
          <a:p>
            <a:pPr algn="l">
              <a:lnSpc>
                <a:spcPts val="2612"/>
              </a:lnSpc>
            </a:pPr>
            <a:r>
              <a:rPr lang="en-US" sz="2176">
                <a:solidFill>
                  <a:srgbClr val="3D2A26"/>
                </a:solidFill>
                <a:latin typeface="Consolas"/>
                <a:ea typeface="Consolas"/>
                <a:cs typeface="Consolas"/>
                <a:sym typeface="Consolas"/>
              </a:rPr>
              <a:t>• WARD: location comparison</a:t>
            </a:r>
          </a:p>
          <a:p>
            <a:pPr algn="l">
              <a:lnSpc>
                <a:spcPts val="2612"/>
              </a:lnSpc>
            </a:pPr>
            <a:r>
              <a:rPr lang="en-US" sz="2176">
                <a:solidFill>
                  <a:srgbClr val="3D2A26"/>
                </a:solidFill>
                <a:latin typeface="Consolas"/>
                <a:ea typeface="Consolas"/>
                <a:cs typeface="Consolas"/>
                <a:sym typeface="Consolas"/>
              </a:rPr>
              <a:t>• ADDDATE and RESOLUTIONDATE: time and response calculations</a:t>
            </a:r>
          </a:p>
          <a:p>
            <a:pPr algn="l">
              <a:lnSpc>
                <a:spcPts val="2612"/>
              </a:lnSpc>
            </a:pPr>
            <a:r>
              <a:rPr lang="en-US" sz="2176">
                <a:solidFill>
                  <a:srgbClr val="3D2A26"/>
                </a:solidFill>
                <a:latin typeface="Consolas"/>
                <a:ea typeface="Consolas"/>
                <a:cs typeface="Consolas"/>
                <a:sym typeface="Consolas"/>
              </a:rPr>
              <a:t>• response_time_days: new calculated column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89317"/>
            <a:chOff x="0" y="0"/>
            <a:chExt cx="3294418" cy="3585756"/>
          </a:xfrm>
        </p:grpSpPr>
        <p:sp>
          <p:nvSpPr>
            <p:cNvPr name="Freeform 13" id="13" descr="image16.png"/>
            <p:cNvSpPr/>
            <p:nvPr/>
          </p:nvSpPr>
          <p:spPr>
            <a:xfrm flipH="false" flipV="false" rot="0">
              <a:off x="0" y="0"/>
              <a:ext cx="3294380" cy="3585718"/>
            </a:xfrm>
            <a:custGeom>
              <a:avLst/>
              <a:gdLst/>
              <a:ahLst/>
              <a:cxnLst/>
              <a:rect r="r" b="b" t="t" l="l"/>
              <a:pathLst>
                <a:path h="3585718" w="3294380">
                  <a:moveTo>
                    <a:pt x="0" y="0"/>
                  </a:moveTo>
                  <a:lnTo>
                    <a:pt x="3294380" y="0"/>
                  </a:lnTo>
                  <a:lnTo>
                    <a:pt x="3294380" y="3585718"/>
                  </a:lnTo>
                  <a:lnTo>
                    <a:pt x="0" y="358571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04</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OBJECTIVE</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Objective and Research Questions</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The analysis was built around questions that the data could actually answer.</a:t>
            </a:r>
          </a:p>
        </p:txBody>
      </p:sp>
      <p:grpSp>
        <p:nvGrpSpPr>
          <p:cNvPr name="Group 20" id="20"/>
          <p:cNvGrpSpPr/>
          <p:nvPr/>
        </p:nvGrpSpPr>
        <p:grpSpPr>
          <a:xfrm rot="0">
            <a:off x="1166774" y="2470814"/>
            <a:ext cx="2059010" cy="466709"/>
            <a:chOff x="0" y="0"/>
            <a:chExt cx="2745346" cy="622278"/>
          </a:xfrm>
        </p:grpSpPr>
        <p:sp>
          <p:nvSpPr>
            <p:cNvPr name="Freeform 21" id="21"/>
            <p:cNvSpPr/>
            <p:nvPr/>
          </p:nvSpPr>
          <p:spPr>
            <a:xfrm flipH="false" flipV="false" rot="0">
              <a:off x="0" y="0"/>
              <a:ext cx="2745359" cy="622304"/>
            </a:xfrm>
            <a:custGeom>
              <a:avLst/>
              <a:gdLst/>
              <a:ahLst/>
              <a:cxnLst/>
              <a:rect r="r" b="b" t="t" l="l"/>
              <a:pathLst>
                <a:path h="622304" w="2745359">
                  <a:moveTo>
                    <a:pt x="0" y="103760"/>
                  </a:moveTo>
                  <a:cubicBezTo>
                    <a:pt x="0" y="46482"/>
                    <a:pt x="46482" y="0"/>
                    <a:pt x="103759" y="0"/>
                  </a:cubicBezTo>
                  <a:lnTo>
                    <a:pt x="2641600" y="0"/>
                  </a:lnTo>
                  <a:cubicBezTo>
                    <a:pt x="2698877" y="0"/>
                    <a:pt x="2745359" y="46482"/>
                    <a:pt x="2745359" y="103760"/>
                  </a:cubicBezTo>
                  <a:lnTo>
                    <a:pt x="2745359" y="518544"/>
                  </a:lnTo>
                  <a:cubicBezTo>
                    <a:pt x="2745359" y="575821"/>
                    <a:pt x="2698877" y="622304"/>
                    <a:pt x="2641600" y="622304"/>
                  </a:cubicBezTo>
                  <a:lnTo>
                    <a:pt x="103759" y="622304"/>
                  </a:lnTo>
                  <a:cubicBezTo>
                    <a:pt x="46482" y="622304"/>
                    <a:pt x="0" y="575821"/>
                    <a:pt x="0" y="518544"/>
                  </a:cubicBezTo>
                  <a:close/>
                </a:path>
              </a:pathLst>
            </a:custGeom>
            <a:solidFill>
              <a:srgbClr val="C25F4A"/>
            </a:solidFill>
          </p:spPr>
        </p:sp>
        <p:sp>
          <p:nvSpPr>
            <p:cNvPr name="TextBox 22" id="22"/>
            <p:cNvSpPr txBox="true"/>
            <p:nvPr/>
          </p:nvSpPr>
          <p:spPr>
            <a:xfrm>
              <a:off x="0" y="-38100"/>
              <a:ext cx="2745346"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Objective</a:t>
              </a:r>
            </a:p>
          </p:txBody>
        </p:sp>
      </p:grpSp>
      <p:sp>
        <p:nvSpPr>
          <p:cNvPr name="TextBox 23" id="23"/>
          <p:cNvSpPr txBox="true"/>
          <p:nvPr/>
        </p:nvSpPr>
        <p:spPr>
          <a:xfrm rot="0">
            <a:off x="1308583" y="3026397"/>
            <a:ext cx="7046452" cy="1895475"/>
          </a:xfrm>
          <a:prstGeom prst="rect">
            <a:avLst/>
          </a:prstGeom>
        </p:spPr>
        <p:txBody>
          <a:bodyPr anchor="t" rtlCol="false" tIns="0" lIns="0" bIns="0" rIns="0">
            <a:spAutoFit/>
          </a:bodyPr>
          <a:lstStyle/>
          <a:p>
            <a:pPr algn="l">
              <a:lnSpc>
                <a:spcPts val="3602"/>
              </a:lnSpc>
            </a:pPr>
            <a:r>
              <a:rPr lang="en-US" sz="3002" b="true">
                <a:solidFill>
                  <a:srgbClr val="3D2A26"/>
                </a:solidFill>
                <a:latin typeface="Consolas Bold"/>
                <a:ea typeface="Consolas Bold"/>
                <a:cs typeface="Consolas Bold"/>
                <a:sym typeface="Consolas Bold"/>
              </a:rPr>
              <a:t>Analyze 311 service request patterns by request type, location, time, status, and response time.</a:t>
            </a:r>
          </a:p>
        </p:txBody>
      </p:sp>
      <p:grpSp>
        <p:nvGrpSpPr>
          <p:cNvPr name="Group 24" id="24"/>
          <p:cNvGrpSpPr/>
          <p:nvPr/>
        </p:nvGrpSpPr>
        <p:grpSpPr>
          <a:xfrm rot="0">
            <a:off x="9608706" y="2470814"/>
            <a:ext cx="3431677" cy="466709"/>
            <a:chOff x="0" y="0"/>
            <a:chExt cx="4575569" cy="622278"/>
          </a:xfrm>
        </p:grpSpPr>
        <p:sp>
          <p:nvSpPr>
            <p:cNvPr name="Freeform 25" id="25"/>
            <p:cNvSpPr/>
            <p:nvPr/>
          </p:nvSpPr>
          <p:spPr>
            <a:xfrm flipH="false" flipV="false" rot="0">
              <a:off x="0" y="0"/>
              <a:ext cx="4575556" cy="622304"/>
            </a:xfrm>
            <a:custGeom>
              <a:avLst/>
              <a:gdLst/>
              <a:ahLst/>
              <a:cxnLst/>
              <a:rect r="r" b="b" t="t" l="l"/>
              <a:pathLst>
                <a:path h="622304" w="4575556">
                  <a:moveTo>
                    <a:pt x="0" y="103760"/>
                  </a:moveTo>
                  <a:cubicBezTo>
                    <a:pt x="0" y="46482"/>
                    <a:pt x="46482" y="0"/>
                    <a:pt x="103759" y="0"/>
                  </a:cubicBezTo>
                  <a:lnTo>
                    <a:pt x="4471797" y="0"/>
                  </a:lnTo>
                  <a:cubicBezTo>
                    <a:pt x="4529074" y="0"/>
                    <a:pt x="4575556" y="46482"/>
                    <a:pt x="4575556" y="103760"/>
                  </a:cubicBezTo>
                  <a:lnTo>
                    <a:pt x="4575556" y="518544"/>
                  </a:lnTo>
                  <a:cubicBezTo>
                    <a:pt x="4575556" y="575821"/>
                    <a:pt x="4529074" y="622304"/>
                    <a:pt x="4471797" y="622304"/>
                  </a:cubicBezTo>
                  <a:lnTo>
                    <a:pt x="103759" y="622304"/>
                  </a:lnTo>
                  <a:cubicBezTo>
                    <a:pt x="46482" y="622304"/>
                    <a:pt x="0" y="575821"/>
                    <a:pt x="0" y="518544"/>
                  </a:cubicBezTo>
                  <a:close/>
                </a:path>
              </a:pathLst>
            </a:custGeom>
            <a:solidFill>
              <a:srgbClr val="4A9BC1"/>
            </a:solidFill>
          </p:spPr>
        </p:sp>
        <p:sp>
          <p:nvSpPr>
            <p:cNvPr name="TextBox 26" id="26"/>
            <p:cNvSpPr txBox="true"/>
            <p:nvPr/>
          </p:nvSpPr>
          <p:spPr>
            <a:xfrm>
              <a:off x="0" y="-38100"/>
              <a:ext cx="4575569"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Research questions</a:t>
              </a:r>
            </a:p>
          </p:txBody>
        </p:sp>
      </p:grpSp>
      <p:sp>
        <p:nvSpPr>
          <p:cNvPr name="TextBox 27" id="27"/>
          <p:cNvSpPr txBox="true"/>
          <p:nvPr/>
        </p:nvSpPr>
        <p:spPr>
          <a:xfrm rot="0">
            <a:off x="9723063" y="3035922"/>
            <a:ext cx="6771923" cy="2114550"/>
          </a:xfrm>
          <a:prstGeom prst="rect">
            <a:avLst/>
          </a:prstGeom>
        </p:spPr>
        <p:txBody>
          <a:bodyPr anchor="t" rtlCol="false" tIns="0" lIns="0" bIns="0" rIns="0">
            <a:spAutoFit/>
          </a:bodyPr>
          <a:lstStyle/>
          <a:p>
            <a:pPr algn="l">
              <a:lnSpc>
                <a:spcPts val="2702"/>
              </a:lnSpc>
            </a:pPr>
            <a:r>
              <a:rPr lang="en-US" sz="2251">
                <a:solidFill>
                  <a:srgbClr val="3D2A26"/>
                </a:solidFill>
                <a:latin typeface="Consolas"/>
                <a:ea typeface="Consolas"/>
                <a:cs typeface="Consolas"/>
                <a:sym typeface="Consolas"/>
              </a:rPr>
              <a:t>• What request types are most common?</a:t>
            </a:r>
          </a:p>
          <a:p>
            <a:pPr algn="l">
              <a:lnSpc>
                <a:spcPts val="2702"/>
              </a:lnSpc>
            </a:pPr>
            <a:r>
              <a:rPr lang="en-US" sz="2251">
                <a:solidFill>
                  <a:srgbClr val="3D2A26"/>
                </a:solidFill>
                <a:latin typeface="Consolas"/>
                <a:ea typeface="Consolas"/>
                <a:cs typeface="Consolas"/>
                <a:sym typeface="Consolas"/>
              </a:rPr>
              <a:t>• Which wards have the most requests?</a:t>
            </a:r>
          </a:p>
          <a:p>
            <a:pPr algn="l">
              <a:lnSpc>
                <a:spcPts val="2702"/>
              </a:lnSpc>
            </a:pPr>
            <a:r>
              <a:rPr lang="en-US" sz="2251">
                <a:solidFill>
                  <a:srgbClr val="3D2A26"/>
                </a:solidFill>
                <a:latin typeface="Consolas"/>
                <a:ea typeface="Consolas"/>
                <a:cs typeface="Consolas"/>
                <a:sym typeface="Consolas"/>
              </a:rPr>
              <a:t>• When are requests most often submitted?</a:t>
            </a:r>
          </a:p>
          <a:p>
            <a:pPr algn="l">
              <a:lnSpc>
                <a:spcPts val="2702"/>
              </a:lnSpc>
            </a:pPr>
            <a:r>
              <a:rPr lang="en-US" sz="2251">
                <a:solidFill>
                  <a:srgbClr val="3D2A26"/>
                </a:solidFill>
                <a:latin typeface="Consolas"/>
                <a:ea typeface="Consolas"/>
                <a:cs typeface="Consolas"/>
                <a:sym typeface="Consolas"/>
              </a:rPr>
              <a:t>• How long do requests take to close?</a:t>
            </a:r>
          </a:p>
          <a:p>
            <a:pPr algn="l">
              <a:lnSpc>
                <a:spcPts val="2702"/>
              </a:lnSpc>
            </a:pPr>
            <a:r>
              <a:rPr lang="en-US" sz="2251">
                <a:solidFill>
                  <a:srgbClr val="3D2A26"/>
                </a:solidFill>
                <a:latin typeface="Consolas"/>
                <a:ea typeface="Consolas"/>
                <a:cs typeface="Consolas"/>
                <a:sym typeface="Consolas"/>
              </a:rPr>
              <a:t>• Which request types take longest to resolve?</a:t>
            </a:r>
          </a:p>
        </p:txBody>
      </p:sp>
      <p:sp>
        <p:nvSpPr>
          <p:cNvPr name="TextBox 28" id="28"/>
          <p:cNvSpPr txBox="true"/>
          <p:nvPr/>
        </p:nvSpPr>
        <p:spPr>
          <a:xfrm rot="0">
            <a:off x="1034044" y="6673939"/>
            <a:ext cx="14321619" cy="742950"/>
          </a:xfrm>
          <a:prstGeom prst="rect">
            <a:avLst/>
          </a:prstGeom>
        </p:spPr>
        <p:txBody>
          <a:bodyPr anchor="t" rtlCol="false" tIns="0" lIns="0" bIns="0" rIns="0">
            <a:spAutoFit/>
          </a:bodyPr>
          <a:lstStyle/>
          <a:p>
            <a:pPr algn="l">
              <a:lnSpc>
                <a:spcPts val="2702"/>
              </a:lnSpc>
            </a:pPr>
            <a:r>
              <a:rPr lang="en-US" sz="2251" b="true">
                <a:solidFill>
                  <a:srgbClr val="6F4336"/>
                </a:solidFill>
                <a:latin typeface="Consolas Bold"/>
                <a:ea typeface="Consolas Bold"/>
                <a:cs typeface="Consolas Bold"/>
                <a:sym typeface="Consolas Bold"/>
              </a:rPr>
              <a:t>These questions connect directly to the required notebook cycle: load, clean, analyze, visualize, and interpret.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71143"/>
            <a:chOff x="0" y="0"/>
            <a:chExt cx="3294418" cy="3561524"/>
          </a:xfrm>
        </p:grpSpPr>
        <p:sp>
          <p:nvSpPr>
            <p:cNvPr name="Freeform 13" id="13" descr="image18.png"/>
            <p:cNvSpPr/>
            <p:nvPr/>
          </p:nvSpPr>
          <p:spPr>
            <a:xfrm flipH="false" flipV="false" rot="0">
              <a:off x="0" y="0"/>
              <a:ext cx="3294380" cy="3561588"/>
            </a:xfrm>
            <a:custGeom>
              <a:avLst/>
              <a:gdLst/>
              <a:ahLst/>
              <a:cxnLst/>
              <a:rect r="r" b="b" t="t" l="l"/>
              <a:pathLst>
                <a:path h="3561588" w="3294380">
                  <a:moveTo>
                    <a:pt x="0" y="0"/>
                  </a:moveTo>
                  <a:lnTo>
                    <a:pt x="3294380" y="0"/>
                  </a:lnTo>
                  <a:lnTo>
                    <a:pt x="3294380" y="3561588"/>
                  </a:lnTo>
                  <a:lnTo>
                    <a:pt x="0" y="356158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05</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METHODS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Cleaning and Code Problem Solving</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One key issue was that my first column finder returned None for the date column.</a:t>
            </a:r>
          </a:p>
        </p:txBody>
      </p:sp>
      <p:grpSp>
        <p:nvGrpSpPr>
          <p:cNvPr name="Group 20" id="20"/>
          <p:cNvGrpSpPr/>
          <p:nvPr/>
        </p:nvGrpSpPr>
        <p:grpSpPr>
          <a:xfrm rot="0">
            <a:off x="1157240" y="2529916"/>
            <a:ext cx="8666902" cy="5372491"/>
            <a:chOff x="0" y="0"/>
            <a:chExt cx="11555870" cy="7163321"/>
          </a:xfrm>
        </p:grpSpPr>
        <p:sp>
          <p:nvSpPr>
            <p:cNvPr name="Freeform 21" id="21"/>
            <p:cNvSpPr/>
            <p:nvPr/>
          </p:nvSpPr>
          <p:spPr>
            <a:xfrm flipH="false" flipV="false" rot="0">
              <a:off x="12700" y="12700"/>
              <a:ext cx="11530457" cy="7137908"/>
            </a:xfrm>
            <a:custGeom>
              <a:avLst/>
              <a:gdLst/>
              <a:ahLst/>
              <a:cxnLst/>
              <a:rect r="r" b="b" t="t" l="l"/>
              <a:pathLst>
                <a:path h="7137908" w="11530457">
                  <a:moveTo>
                    <a:pt x="0" y="1189736"/>
                  </a:moveTo>
                  <a:cubicBezTo>
                    <a:pt x="0" y="532638"/>
                    <a:pt x="533400" y="0"/>
                    <a:pt x="1191260" y="0"/>
                  </a:cubicBezTo>
                  <a:lnTo>
                    <a:pt x="10339197" y="0"/>
                  </a:lnTo>
                  <a:cubicBezTo>
                    <a:pt x="10997184" y="0"/>
                    <a:pt x="11530457" y="532638"/>
                    <a:pt x="11530457" y="1189736"/>
                  </a:cubicBezTo>
                  <a:lnTo>
                    <a:pt x="11530457" y="5948172"/>
                  </a:lnTo>
                  <a:cubicBezTo>
                    <a:pt x="11530457" y="6605270"/>
                    <a:pt x="10997057" y="7137908"/>
                    <a:pt x="10339197" y="7137908"/>
                  </a:cubicBezTo>
                  <a:lnTo>
                    <a:pt x="1191260" y="7137908"/>
                  </a:lnTo>
                  <a:cubicBezTo>
                    <a:pt x="533400" y="7137908"/>
                    <a:pt x="0" y="6605270"/>
                    <a:pt x="0" y="5948172"/>
                  </a:cubicBezTo>
                  <a:close/>
                </a:path>
              </a:pathLst>
            </a:custGeom>
            <a:solidFill>
              <a:srgbClr val="F5F4F0"/>
            </a:solidFill>
          </p:spPr>
        </p:sp>
        <p:sp>
          <p:nvSpPr>
            <p:cNvPr name="Freeform 22" id="22"/>
            <p:cNvSpPr/>
            <p:nvPr/>
          </p:nvSpPr>
          <p:spPr>
            <a:xfrm flipH="false" flipV="false" rot="0">
              <a:off x="0" y="0"/>
              <a:ext cx="11555857" cy="7163308"/>
            </a:xfrm>
            <a:custGeom>
              <a:avLst/>
              <a:gdLst/>
              <a:ahLst/>
              <a:cxnLst/>
              <a:rect r="r" b="b" t="t" l="l"/>
              <a:pathLst>
                <a:path h="7163308" w="11555857">
                  <a:moveTo>
                    <a:pt x="0" y="1202436"/>
                  </a:moveTo>
                  <a:cubicBezTo>
                    <a:pt x="0" y="538353"/>
                    <a:pt x="539115" y="0"/>
                    <a:pt x="1203960" y="0"/>
                  </a:cubicBezTo>
                  <a:lnTo>
                    <a:pt x="10351897" y="0"/>
                  </a:lnTo>
                  <a:lnTo>
                    <a:pt x="10351897" y="12700"/>
                  </a:lnTo>
                  <a:lnTo>
                    <a:pt x="10351897" y="0"/>
                  </a:lnTo>
                  <a:cubicBezTo>
                    <a:pt x="11016869" y="0"/>
                    <a:pt x="11555857" y="538353"/>
                    <a:pt x="11555857" y="1202436"/>
                  </a:cubicBezTo>
                  <a:lnTo>
                    <a:pt x="11543157" y="1202436"/>
                  </a:lnTo>
                  <a:lnTo>
                    <a:pt x="11555857" y="1202436"/>
                  </a:lnTo>
                  <a:lnTo>
                    <a:pt x="11555857" y="5960872"/>
                  </a:lnTo>
                  <a:lnTo>
                    <a:pt x="11543157" y="5960872"/>
                  </a:lnTo>
                  <a:lnTo>
                    <a:pt x="11555857" y="5960872"/>
                  </a:lnTo>
                  <a:cubicBezTo>
                    <a:pt x="11555857" y="6624955"/>
                    <a:pt x="11016742" y="7163308"/>
                    <a:pt x="10351897" y="7163308"/>
                  </a:cubicBezTo>
                  <a:lnTo>
                    <a:pt x="10351897" y="7150608"/>
                  </a:lnTo>
                  <a:lnTo>
                    <a:pt x="10351897" y="7163308"/>
                  </a:lnTo>
                  <a:lnTo>
                    <a:pt x="1203960" y="7163308"/>
                  </a:lnTo>
                  <a:lnTo>
                    <a:pt x="1203960" y="7150608"/>
                  </a:lnTo>
                  <a:lnTo>
                    <a:pt x="1203960" y="7163308"/>
                  </a:lnTo>
                  <a:cubicBezTo>
                    <a:pt x="539115" y="7163308"/>
                    <a:pt x="0" y="6624955"/>
                    <a:pt x="0" y="5960872"/>
                  </a:cubicBezTo>
                  <a:lnTo>
                    <a:pt x="0" y="1202436"/>
                  </a:lnTo>
                  <a:lnTo>
                    <a:pt x="12700" y="1202436"/>
                  </a:lnTo>
                  <a:lnTo>
                    <a:pt x="0" y="1202436"/>
                  </a:lnTo>
                  <a:moveTo>
                    <a:pt x="25400" y="1202436"/>
                  </a:moveTo>
                  <a:lnTo>
                    <a:pt x="25400" y="5960872"/>
                  </a:lnTo>
                  <a:lnTo>
                    <a:pt x="12700" y="5960872"/>
                  </a:lnTo>
                  <a:lnTo>
                    <a:pt x="25400" y="5960872"/>
                  </a:lnTo>
                  <a:cubicBezTo>
                    <a:pt x="25400" y="6610858"/>
                    <a:pt x="553085" y="7137781"/>
                    <a:pt x="1203960" y="7137781"/>
                  </a:cubicBezTo>
                  <a:lnTo>
                    <a:pt x="10351897" y="7137781"/>
                  </a:lnTo>
                  <a:cubicBezTo>
                    <a:pt x="11002772" y="7137781"/>
                    <a:pt x="11530457" y="6610858"/>
                    <a:pt x="11530457" y="5960872"/>
                  </a:cubicBezTo>
                  <a:lnTo>
                    <a:pt x="11530457" y="1202436"/>
                  </a:lnTo>
                  <a:cubicBezTo>
                    <a:pt x="11530457" y="552323"/>
                    <a:pt x="11002772" y="25400"/>
                    <a:pt x="10351897" y="25400"/>
                  </a:cubicBezTo>
                  <a:lnTo>
                    <a:pt x="1203960" y="25400"/>
                  </a:lnTo>
                  <a:lnTo>
                    <a:pt x="1203960" y="12700"/>
                  </a:lnTo>
                  <a:lnTo>
                    <a:pt x="1203960" y="25400"/>
                  </a:lnTo>
                  <a:cubicBezTo>
                    <a:pt x="553085" y="25400"/>
                    <a:pt x="25400" y="552323"/>
                    <a:pt x="25400" y="1202436"/>
                  </a:cubicBezTo>
                  <a:close/>
                </a:path>
              </a:pathLst>
            </a:custGeom>
            <a:solidFill>
              <a:srgbClr val="CCB99B"/>
            </a:solidFill>
          </p:spPr>
        </p:sp>
      </p:grpSp>
      <p:sp>
        <p:nvSpPr>
          <p:cNvPr name="TextBox 23" id="23"/>
          <p:cNvSpPr txBox="true"/>
          <p:nvPr/>
        </p:nvSpPr>
        <p:spPr>
          <a:xfrm rot="0">
            <a:off x="1432141" y="2735056"/>
            <a:ext cx="8172002" cy="4974822"/>
          </a:xfrm>
          <a:prstGeom prst="rect">
            <a:avLst/>
          </a:prstGeom>
        </p:spPr>
        <p:txBody>
          <a:bodyPr anchor="t" rtlCol="false" tIns="0" lIns="0" bIns="0" rIns="0">
            <a:spAutoFit/>
          </a:bodyPr>
          <a:lstStyle/>
          <a:p>
            <a:pPr algn="l">
              <a:lnSpc>
                <a:spcPts val="1891"/>
              </a:lnSpc>
            </a:pPr>
            <a:r>
              <a:rPr lang="en-US" sz="1576">
                <a:solidFill>
                  <a:srgbClr val="21313D"/>
                </a:solidFill>
                <a:latin typeface="Consolas"/>
                <a:ea typeface="Consolas"/>
                <a:cs typeface="Consolas"/>
                <a:sym typeface="Consolas"/>
              </a:rPr>
              <a:t># The issue: date_col was None, so df[date_col] caused a KeyError.</a:t>
            </a:r>
          </a:p>
          <a:p>
            <a:pPr algn="l">
              <a:lnSpc>
                <a:spcPts val="1891"/>
              </a:lnSpc>
            </a:pPr>
            <a:r>
              <a:rPr lang="en-US" sz="1576">
                <a:solidFill>
                  <a:srgbClr val="21313D"/>
                </a:solidFill>
                <a:latin typeface="Consolas"/>
                <a:ea typeface="Consolas"/>
                <a:cs typeface="Consolas"/>
                <a:sym typeface="Consolas"/>
              </a:rPr>
              <a:t>df.columns.tolist()</a:t>
            </a:r>
          </a:p>
          <a:p>
            <a:pPr algn="l">
              <a:lnSpc>
                <a:spcPts val="1891"/>
              </a:lnSpc>
            </a:pPr>
            <a:r>
              <a:rPr lang="en-US" sz="1576">
                <a:solidFill>
                  <a:srgbClr val="21313D"/>
                </a:solidFill>
                <a:latin typeface="Consolas"/>
                <a:ea typeface="Consolas"/>
                <a:cs typeface="Consolas"/>
                <a:sym typeface="Consolas"/>
              </a:rPr>
              <a:t># I saw the real date columns were adddate and resolutiondate.</a:t>
            </a:r>
          </a:p>
          <a:p>
            <a:pPr algn="l">
              <a:lnSpc>
                <a:spcPts val="1891"/>
              </a:lnSpc>
            </a:pPr>
          </a:p>
          <a:p>
            <a:pPr algn="l">
              <a:lnSpc>
                <a:spcPts val="1891"/>
              </a:lnSpc>
            </a:pPr>
            <a:r>
              <a:rPr lang="en-US" sz="1576">
                <a:solidFill>
                  <a:srgbClr val="21313D"/>
                </a:solidFill>
                <a:latin typeface="Consolas"/>
                <a:ea typeface="Consolas"/>
                <a:cs typeface="Consolas"/>
                <a:sym typeface="Consolas"/>
              </a:rPr>
              <a:t>date_col = 'adddate'</a:t>
            </a:r>
          </a:p>
          <a:p>
            <a:pPr algn="l">
              <a:lnSpc>
                <a:spcPts val="1891"/>
              </a:lnSpc>
            </a:pPr>
            <a:r>
              <a:rPr lang="en-US" sz="1576">
                <a:solidFill>
                  <a:srgbClr val="21313D"/>
                </a:solidFill>
                <a:latin typeface="Consolas"/>
                <a:ea typeface="Consolas"/>
                <a:cs typeface="Consolas"/>
                <a:sym typeface="Consolas"/>
              </a:rPr>
              <a:t>closed_col = 'resolutiondate'</a:t>
            </a:r>
          </a:p>
          <a:p>
            <a:pPr algn="l">
              <a:lnSpc>
                <a:spcPts val="1891"/>
              </a:lnSpc>
            </a:pPr>
          </a:p>
          <a:p>
            <a:pPr algn="l">
              <a:lnSpc>
                <a:spcPts val="1891"/>
              </a:lnSpc>
            </a:pPr>
            <a:r>
              <a:rPr lang="en-US" sz="1576">
                <a:solidFill>
                  <a:srgbClr val="21313D"/>
                </a:solidFill>
                <a:latin typeface="Consolas"/>
                <a:ea typeface="Consolas"/>
                <a:cs typeface="Consolas"/>
                <a:sym typeface="Consolas"/>
              </a:rPr>
              <a:t>df[date_col] = pd.to_datetime(df[date_col], errors='coerce')</a:t>
            </a:r>
          </a:p>
          <a:p>
            <a:pPr algn="l">
              <a:lnSpc>
                <a:spcPts val="1891"/>
              </a:lnSpc>
            </a:pPr>
            <a:r>
              <a:rPr lang="en-US" sz="1576">
                <a:solidFill>
                  <a:srgbClr val="21313D"/>
                </a:solidFill>
                <a:latin typeface="Consolas"/>
                <a:ea typeface="Consolas"/>
                <a:cs typeface="Consolas"/>
                <a:sym typeface="Consolas"/>
              </a:rPr>
              <a:t>df[closed_col] = pd.to_datetime(df[closed_col], errors='coerce')</a:t>
            </a:r>
          </a:p>
        </p:txBody>
      </p:sp>
      <p:grpSp>
        <p:nvGrpSpPr>
          <p:cNvPr name="Group 24" id="24"/>
          <p:cNvGrpSpPr/>
          <p:nvPr/>
        </p:nvGrpSpPr>
        <p:grpSpPr>
          <a:xfrm rot="0">
            <a:off x="10363676" y="2539441"/>
            <a:ext cx="2745343" cy="466709"/>
            <a:chOff x="0" y="0"/>
            <a:chExt cx="3660458" cy="622278"/>
          </a:xfrm>
        </p:grpSpPr>
        <p:sp>
          <p:nvSpPr>
            <p:cNvPr name="Freeform 25" id="25"/>
            <p:cNvSpPr/>
            <p:nvPr/>
          </p:nvSpPr>
          <p:spPr>
            <a:xfrm flipH="false" flipV="false" rot="0">
              <a:off x="0" y="0"/>
              <a:ext cx="3660521" cy="622304"/>
            </a:xfrm>
            <a:custGeom>
              <a:avLst/>
              <a:gdLst/>
              <a:ahLst/>
              <a:cxnLst/>
              <a:rect r="r" b="b" t="t" l="l"/>
              <a:pathLst>
                <a:path h="622304" w="3660521">
                  <a:moveTo>
                    <a:pt x="0" y="103760"/>
                  </a:moveTo>
                  <a:cubicBezTo>
                    <a:pt x="0" y="46482"/>
                    <a:pt x="46482" y="0"/>
                    <a:pt x="103759" y="0"/>
                  </a:cubicBezTo>
                  <a:lnTo>
                    <a:pt x="3556762" y="0"/>
                  </a:lnTo>
                  <a:cubicBezTo>
                    <a:pt x="3614039" y="0"/>
                    <a:pt x="3660521" y="46482"/>
                    <a:pt x="3660521" y="103760"/>
                  </a:cubicBezTo>
                  <a:lnTo>
                    <a:pt x="3660521" y="518544"/>
                  </a:lnTo>
                  <a:cubicBezTo>
                    <a:pt x="3660521" y="575821"/>
                    <a:pt x="3614039" y="622304"/>
                    <a:pt x="3556762" y="622304"/>
                  </a:cubicBezTo>
                  <a:lnTo>
                    <a:pt x="103759" y="622304"/>
                  </a:lnTo>
                  <a:cubicBezTo>
                    <a:pt x="46482" y="622304"/>
                    <a:pt x="0" y="575821"/>
                    <a:pt x="0" y="518544"/>
                  </a:cubicBezTo>
                  <a:close/>
                </a:path>
              </a:pathLst>
            </a:custGeom>
            <a:solidFill>
              <a:srgbClr val="C25F4A"/>
            </a:solidFill>
          </p:spPr>
        </p:sp>
        <p:sp>
          <p:nvSpPr>
            <p:cNvPr name="TextBox 26" id="26"/>
            <p:cNvSpPr txBox="true"/>
            <p:nvPr/>
          </p:nvSpPr>
          <p:spPr>
            <a:xfrm>
              <a:off x="0" y="-38100"/>
              <a:ext cx="366045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What I learned</a:t>
              </a:r>
            </a:p>
          </p:txBody>
        </p:sp>
      </p:grpSp>
      <p:sp>
        <p:nvSpPr>
          <p:cNvPr name="TextBox 27" id="27"/>
          <p:cNvSpPr txBox="true"/>
          <p:nvPr/>
        </p:nvSpPr>
        <p:spPr>
          <a:xfrm rot="0">
            <a:off x="10478033" y="3127810"/>
            <a:ext cx="6497384" cy="2962275"/>
          </a:xfrm>
          <a:prstGeom prst="rect">
            <a:avLst/>
          </a:prstGeom>
        </p:spPr>
        <p:txBody>
          <a:bodyPr anchor="t" rtlCol="false" tIns="0" lIns="0" bIns="0" rIns="0">
            <a:spAutoFit/>
          </a:bodyPr>
          <a:lstStyle/>
          <a:p>
            <a:pPr algn="l">
              <a:lnSpc>
                <a:spcPts val="2557"/>
              </a:lnSpc>
            </a:pPr>
            <a:r>
              <a:rPr lang="en-US" sz="2131">
                <a:solidFill>
                  <a:srgbClr val="3D2A26"/>
                </a:solidFill>
                <a:latin typeface="Consolas"/>
                <a:ea typeface="Consolas"/>
                <a:cs typeface="Consolas"/>
                <a:sym typeface="Consolas"/>
              </a:rPr>
              <a:t>• The error happened because Python was trying to use df[None].</a:t>
            </a:r>
          </a:p>
          <a:p>
            <a:pPr algn="l">
              <a:lnSpc>
                <a:spcPts val="2557"/>
              </a:lnSpc>
            </a:pPr>
            <a:r>
              <a:rPr lang="en-US" sz="2131">
                <a:solidFill>
                  <a:srgbClr val="3D2A26"/>
                </a:solidFill>
                <a:latin typeface="Consolas"/>
                <a:ea typeface="Consolas"/>
                <a:cs typeface="Consolas"/>
                <a:sym typeface="Consolas"/>
              </a:rPr>
              <a:t>• I checked the real column names instead of guessing.</a:t>
            </a:r>
          </a:p>
          <a:p>
            <a:pPr algn="l">
              <a:lnSpc>
                <a:spcPts val="2557"/>
              </a:lnSpc>
            </a:pPr>
            <a:r>
              <a:rPr lang="en-US" sz="2131">
                <a:solidFill>
                  <a:srgbClr val="3D2A26"/>
                </a:solidFill>
                <a:latin typeface="Consolas"/>
                <a:ea typeface="Consolas"/>
                <a:cs typeface="Consolas"/>
                <a:sym typeface="Consolas"/>
              </a:rPr>
              <a:t>• The correct date fields were adddate and resolutiondate.</a:t>
            </a:r>
          </a:p>
          <a:p>
            <a:pPr algn="l">
              <a:lnSpc>
                <a:spcPts val="2557"/>
              </a:lnSpc>
            </a:pPr>
            <a:r>
              <a:rPr lang="en-US" sz="2131">
                <a:solidFill>
                  <a:srgbClr val="3D2A26"/>
                </a:solidFill>
                <a:latin typeface="Consolas"/>
                <a:ea typeface="Consolas"/>
                <a:cs typeface="Consolas"/>
                <a:sym typeface="Consolas"/>
              </a:rPr>
              <a:t>• After converting them to datetime, I could create month, day, hour, and response time.</a:t>
            </a:r>
          </a:p>
        </p:txBody>
      </p:sp>
      <p:sp>
        <p:nvSpPr>
          <p:cNvPr name="TextBox 28" id="28"/>
          <p:cNvSpPr txBox="true"/>
          <p:nvPr/>
        </p:nvSpPr>
        <p:spPr>
          <a:xfrm rot="0">
            <a:off x="10478033" y="7167667"/>
            <a:ext cx="6360119" cy="742950"/>
          </a:xfrm>
          <a:prstGeom prst="rect">
            <a:avLst/>
          </a:prstGeom>
        </p:spPr>
        <p:txBody>
          <a:bodyPr anchor="t" rtlCol="false" tIns="0" lIns="0" bIns="0" rIns="0">
            <a:spAutoFit/>
          </a:bodyPr>
          <a:lstStyle/>
          <a:p>
            <a:pPr algn="l">
              <a:lnSpc>
                <a:spcPts val="2702"/>
              </a:lnSpc>
            </a:pPr>
            <a:r>
              <a:rPr lang="en-US" sz="2251" b="true">
                <a:solidFill>
                  <a:srgbClr val="6F4336"/>
                </a:solidFill>
                <a:latin typeface="Consolas Bold"/>
                <a:ea typeface="Consolas Bold"/>
                <a:cs typeface="Consolas Bold"/>
                <a:sym typeface="Consolas Bold"/>
              </a:rPr>
              <a:t>This shows the debugging process, not just the final answer.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353151"/>
            <a:chOff x="0" y="0"/>
            <a:chExt cx="3294418" cy="3137535"/>
          </a:xfrm>
        </p:grpSpPr>
        <p:sp>
          <p:nvSpPr>
            <p:cNvPr name="Freeform 13" id="13" descr="image20.png"/>
            <p:cNvSpPr/>
            <p:nvPr/>
          </p:nvSpPr>
          <p:spPr>
            <a:xfrm flipH="false" flipV="false" rot="0">
              <a:off x="0" y="0"/>
              <a:ext cx="3294380" cy="3137535"/>
            </a:xfrm>
            <a:custGeom>
              <a:avLst/>
              <a:gdLst/>
              <a:ahLst/>
              <a:cxnLst/>
              <a:rect r="r" b="b" t="t" l="l"/>
              <a:pathLst>
                <a:path h="3137535" w="3294380">
                  <a:moveTo>
                    <a:pt x="0" y="0"/>
                  </a:moveTo>
                  <a:lnTo>
                    <a:pt x="3294380" y="0"/>
                  </a:lnTo>
                  <a:lnTo>
                    <a:pt x="3294380" y="3137535"/>
                  </a:lnTo>
                  <a:lnTo>
                    <a:pt x="0" y="3137535"/>
                  </a:lnTo>
                  <a:lnTo>
                    <a:pt x="0" y="0"/>
                  </a:lnTo>
                  <a:close/>
                </a:path>
              </a:pathLst>
            </a:custGeom>
            <a:blipFill>
              <a:blip r:embed="rId4"/>
              <a:stretch>
                <a:fillRect l="0" t="0" r="-1" b="0"/>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06</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METHODS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Feature Engineering</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I created new columns so the dataset could answer the research questions.</a:t>
            </a:r>
          </a:p>
        </p:txBody>
      </p:sp>
      <p:grpSp>
        <p:nvGrpSpPr>
          <p:cNvPr name="Group 20" id="20"/>
          <p:cNvGrpSpPr/>
          <p:nvPr/>
        </p:nvGrpSpPr>
        <p:grpSpPr>
          <a:xfrm rot="0">
            <a:off x="1157240" y="2529916"/>
            <a:ext cx="8666902" cy="5990187"/>
            <a:chOff x="0" y="0"/>
            <a:chExt cx="11555870" cy="7986916"/>
          </a:xfrm>
        </p:grpSpPr>
        <p:sp>
          <p:nvSpPr>
            <p:cNvPr name="Freeform 21" id="21"/>
            <p:cNvSpPr/>
            <p:nvPr/>
          </p:nvSpPr>
          <p:spPr>
            <a:xfrm flipH="false" flipV="false" rot="0">
              <a:off x="12700" y="12700"/>
              <a:ext cx="11530457" cy="7961502"/>
            </a:xfrm>
            <a:custGeom>
              <a:avLst/>
              <a:gdLst/>
              <a:ahLst/>
              <a:cxnLst/>
              <a:rect r="r" b="b" t="t" l="l"/>
              <a:pathLst>
                <a:path h="7961502" w="11530457">
                  <a:moveTo>
                    <a:pt x="0" y="1326896"/>
                  </a:moveTo>
                  <a:cubicBezTo>
                    <a:pt x="0" y="594106"/>
                    <a:pt x="594741" y="0"/>
                    <a:pt x="1328293" y="0"/>
                  </a:cubicBezTo>
                  <a:lnTo>
                    <a:pt x="10202164" y="0"/>
                  </a:lnTo>
                  <a:cubicBezTo>
                    <a:pt x="10935716" y="0"/>
                    <a:pt x="11530457" y="594106"/>
                    <a:pt x="11530457" y="1326896"/>
                  </a:cubicBezTo>
                  <a:lnTo>
                    <a:pt x="11530457" y="6634607"/>
                  </a:lnTo>
                  <a:cubicBezTo>
                    <a:pt x="11530457" y="7367397"/>
                    <a:pt x="10935716" y="7961502"/>
                    <a:pt x="10202164" y="7961502"/>
                  </a:cubicBezTo>
                  <a:lnTo>
                    <a:pt x="1328293" y="7961502"/>
                  </a:lnTo>
                  <a:cubicBezTo>
                    <a:pt x="594741" y="7961503"/>
                    <a:pt x="0" y="7367397"/>
                    <a:pt x="0" y="6634607"/>
                  </a:cubicBezTo>
                  <a:close/>
                </a:path>
              </a:pathLst>
            </a:custGeom>
            <a:solidFill>
              <a:srgbClr val="F5F4F0"/>
            </a:solidFill>
          </p:spPr>
        </p:sp>
        <p:sp>
          <p:nvSpPr>
            <p:cNvPr name="Freeform 22" id="22"/>
            <p:cNvSpPr/>
            <p:nvPr/>
          </p:nvSpPr>
          <p:spPr>
            <a:xfrm flipH="false" flipV="false" rot="0">
              <a:off x="0" y="0"/>
              <a:ext cx="11555857" cy="7986902"/>
            </a:xfrm>
            <a:custGeom>
              <a:avLst/>
              <a:gdLst/>
              <a:ahLst/>
              <a:cxnLst/>
              <a:rect r="r" b="b" t="t" l="l"/>
              <a:pathLst>
                <a:path h="7986902" w="11555857">
                  <a:moveTo>
                    <a:pt x="0" y="1339596"/>
                  </a:moveTo>
                  <a:cubicBezTo>
                    <a:pt x="0" y="599821"/>
                    <a:pt x="600329" y="0"/>
                    <a:pt x="1340993" y="0"/>
                  </a:cubicBezTo>
                  <a:lnTo>
                    <a:pt x="10214864" y="0"/>
                  </a:lnTo>
                  <a:lnTo>
                    <a:pt x="10214864" y="12700"/>
                  </a:lnTo>
                  <a:lnTo>
                    <a:pt x="10214864" y="0"/>
                  </a:lnTo>
                  <a:cubicBezTo>
                    <a:pt x="10955401" y="0"/>
                    <a:pt x="11555857" y="599821"/>
                    <a:pt x="11555857" y="1339596"/>
                  </a:cubicBezTo>
                  <a:lnTo>
                    <a:pt x="11543157" y="1339596"/>
                  </a:lnTo>
                  <a:lnTo>
                    <a:pt x="11555857" y="1339596"/>
                  </a:lnTo>
                  <a:lnTo>
                    <a:pt x="11555857" y="6647307"/>
                  </a:lnTo>
                  <a:lnTo>
                    <a:pt x="11543157" y="6647307"/>
                  </a:lnTo>
                  <a:lnTo>
                    <a:pt x="11555857" y="6647307"/>
                  </a:lnTo>
                  <a:cubicBezTo>
                    <a:pt x="11555857" y="7387209"/>
                    <a:pt x="10955528" y="7986902"/>
                    <a:pt x="10214864" y="7986902"/>
                  </a:cubicBezTo>
                  <a:lnTo>
                    <a:pt x="10214864" y="7974202"/>
                  </a:lnTo>
                  <a:lnTo>
                    <a:pt x="10214864" y="7986902"/>
                  </a:lnTo>
                  <a:lnTo>
                    <a:pt x="1340993" y="7986902"/>
                  </a:lnTo>
                  <a:lnTo>
                    <a:pt x="1340993" y="7974202"/>
                  </a:lnTo>
                  <a:lnTo>
                    <a:pt x="1340993" y="7986902"/>
                  </a:lnTo>
                  <a:cubicBezTo>
                    <a:pt x="600329" y="7986903"/>
                    <a:pt x="0" y="7387209"/>
                    <a:pt x="0" y="6647307"/>
                  </a:cubicBezTo>
                  <a:lnTo>
                    <a:pt x="0" y="1339596"/>
                  </a:lnTo>
                  <a:lnTo>
                    <a:pt x="12700" y="1339596"/>
                  </a:lnTo>
                  <a:lnTo>
                    <a:pt x="0" y="1339596"/>
                  </a:lnTo>
                  <a:moveTo>
                    <a:pt x="25400" y="1339596"/>
                  </a:moveTo>
                  <a:lnTo>
                    <a:pt x="25400" y="6647307"/>
                  </a:lnTo>
                  <a:lnTo>
                    <a:pt x="12700" y="6647307"/>
                  </a:lnTo>
                  <a:lnTo>
                    <a:pt x="25400" y="6647307"/>
                  </a:lnTo>
                  <a:cubicBezTo>
                    <a:pt x="25400" y="7373112"/>
                    <a:pt x="614426" y="7961502"/>
                    <a:pt x="1340993" y="7961502"/>
                  </a:cubicBezTo>
                  <a:lnTo>
                    <a:pt x="10214864" y="7961502"/>
                  </a:lnTo>
                  <a:cubicBezTo>
                    <a:pt x="10941431" y="7961502"/>
                    <a:pt x="11530457" y="7373112"/>
                    <a:pt x="11530457" y="6647307"/>
                  </a:cubicBezTo>
                  <a:lnTo>
                    <a:pt x="11530457" y="1339596"/>
                  </a:lnTo>
                  <a:cubicBezTo>
                    <a:pt x="11530457" y="613791"/>
                    <a:pt x="10941431" y="25400"/>
                    <a:pt x="10214864" y="25400"/>
                  </a:cubicBezTo>
                  <a:lnTo>
                    <a:pt x="1340993" y="25400"/>
                  </a:lnTo>
                  <a:lnTo>
                    <a:pt x="1340993" y="12700"/>
                  </a:lnTo>
                  <a:lnTo>
                    <a:pt x="1340993" y="25400"/>
                  </a:lnTo>
                  <a:cubicBezTo>
                    <a:pt x="614426" y="25400"/>
                    <a:pt x="25400" y="613791"/>
                    <a:pt x="25400" y="1339596"/>
                  </a:cubicBezTo>
                  <a:close/>
                </a:path>
              </a:pathLst>
            </a:custGeom>
            <a:solidFill>
              <a:srgbClr val="CCB99B"/>
            </a:solidFill>
          </p:spPr>
        </p:sp>
      </p:grpSp>
      <p:sp>
        <p:nvSpPr>
          <p:cNvPr name="TextBox 23" id="23"/>
          <p:cNvSpPr txBox="true"/>
          <p:nvPr/>
        </p:nvSpPr>
        <p:spPr>
          <a:xfrm rot="0">
            <a:off x="1432141" y="2735056"/>
            <a:ext cx="8172002" cy="5592518"/>
          </a:xfrm>
          <a:prstGeom prst="rect">
            <a:avLst/>
          </a:prstGeom>
        </p:spPr>
        <p:txBody>
          <a:bodyPr anchor="t" rtlCol="false" tIns="0" lIns="0" bIns="0" rIns="0">
            <a:spAutoFit/>
          </a:bodyPr>
          <a:lstStyle/>
          <a:p>
            <a:pPr algn="l">
              <a:lnSpc>
                <a:spcPts val="1891"/>
              </a:lnSpc>
            </a:pPr>
            <a:r>
              <a:rPr lang="en-US" sz="1576">
                <a:solidFill>
                  <a:srgbClr val="21313D"/>
                </a:solidFill>
                <a:latin typeface="Consolas"/>
                <a:ea typeface="Consolas"/>
                <a:cs typeface="Consolas"/>
                <a:sym typeface="Consolas"/>
              </a:rPr>
              <a:t>df['year'] = df[date_col].dt.year</a:t>
            </a:r>
          </a:p>
          <a:p>
            <a:pPr algn="l">
              <a:lnSpc>
                <a:spcPts val="1891"/>
              </a:lnSpc>
            </a:pPr>
            <a:r>
              <a:rPr lang="en-US" sz="1576">
                <a:solidFill>
                  <a:srgbClr val="21313D"/>
                </a:solidFill>
                <a:latin typeface="Consolas"/>
                <a:ea typeface="Consolas"/>
                <a:cs typeface="Consolas"/>
                <a:sym typeface="Consolas"/>
              </a:rPr>
              <a:t>df['month'] = df[date_col].dt.month</a:t>
            </a:r>
          </a:p>
          <a:p>
            <a:pPr algn="l">
              <a:lnSpc>
                <a:spcPts val="1891"/>
              </a:lnSpc>
            </a:pPr>
            <a:r>
              <a:rPr lang="en-US" sz="1576">
                <a:solidFill>
                  <a:srgbClr val="21313D"/>
                </a:solidFill>
                <a:latin typeface="Consolas"/>
                <a:ea typeface="Consolas"/>
                <a:cs typeface="Consolas"/>
                <a:sym typeface="Consolas"/>
              </a:rPr>
              <a:t>df['month_name'] = df[date_col].dt.month_name()</a:t>
            </a:r>
          </a:p>
          <a:p>
            <a:pPr algn="l">
              <a:lnSpc>
                <a:spcPts val="1891"/>
              </a:lnSpc>
            </a:pPr>
            <a:r>
              <a:rPr lang="en-US" sz="1576">
                <a:solidFill>
                  <a:srgbClr val="21313D"/>
                </a:solidFill>
                <a:latin typeface="Consolas"/>
                <a:ea typeface="Consolas"/>
                <a:cs typeface="Consolas"/>
                <a:sym typeface="Consolas"/>
              </a:rPr>
              <a:t>df['day_of_week'] = df[date_col].dt.day_name()</a:t>
            </a:r>
          </a:p>
          <a:p>
            <a:pPr algn="l">
              <a:lnSpc>
                <a:spcPts val="1891"/>
              </a:lnSpc>
            </a:pPr>
            <a:r>
              <a:rPr lang="en-US" sz="1576">
                <a:solidFill>
                  <a:srgbClr val="21313D"/>
                </a:solidFill>
                <a:latin typeface="Consolas"/>
                <a:ea typeface="Consolas"/>
                <a:cs typeface="Consolas"/>
                <a:sym typeface="Consolas"/>
              </a:rPr>
              <a:t>df['hour'] = df[date_col].dt.hour</a:t>
            </a:r>
          </a:p>
          <a:p>
            <a:pPr algn="l">
              <a:lnSpc>
                <a:spcPts val="1891"/>
              </a:lnSpc>
            </a:pPr>
          </a:p>
          <a:p>
            <a:pPr algn="l">
              <a:lnSpc>
                <a:spcPts val="1891"/>
              </a:lnSpc>
            </a:pPr>
            <a:r>
              <a:rPr lang="en-US" sz="1576">
                <a:solidFill>
                  <a:srgbClr val="21313D"/>
                </a:solidFill>
                <a:latin typeface="Consolas"/>
                <a:ea typeface="Consolas"/>
                <a:cs typeface="Consolas"/>
                <a:sym typeface="Consolas"/>
              </a:rPr>
              <a:t>df['response_time_days'] = (</a:t>
            </a:r>
          </a:p>
          <a:p>
            <a:pPr algn="l">
              <a:lnSpc>
                <a:spcPts val="1891"/>
              </a:lnSpc>
            </a:pPr>
            <a:r>
              <a:rPr lang="en-US" sz="1576">
                <a:solidFill>
                  <a:srgbClr val="21313D"/>
                </a:solidFill>
                <a:latin typeface="Consolas"/>
                <a:ea typeface="Consolas"/>
                <a:cs typeface="Consolas"/>
                <a:sym typeface="Consolas"/>
              </a:rPr>
              <a:t>    df[closed_col] - df[date_col]</a:t>
            </a:r>
          </a:p>
          <a:p>
            <a:pPr algn="l">
              <a:lnSpc>
                <a:spcPts val="1891"/>
              </a:lnSpc>
            </a:pPr>
            <a:r>
              <a:rPr lang="en-US" sz="1576">
                <a:solidFill>
                  <a:srgbClr val="21313D"/>
                </a:solidFill>
                <a:latin typeface="Consolas"/>
                <a:ea typeface="Consolas"/>
                <a:cs typeface="Consolas"/>
                <a:sym typeface="Consolas"/>
              </a:rPr>
              <a:t>).dt.total_seconds() / 86400</a:t>
            </a:r>
          </a:p>
          <a:p>
            <a:pPr algn="l">
              <a:lnSpc>
                <a:spcPts val="1891"/>
              </a:lnSpc>
            </a:pPr>
          </a:p>
          <a:p>
            <a:pPr algn="l">
              <a:lnSpc>
                <a:spcPts val="1891"/>
              </a:lnSpc>
            </a:pPr>
            <a:r>
              <a:rPr lang="en-US" sz="1576">
                <a:solidFill>
                  <a:srgbClr val="21313D"/>
                </a:solidFill>
                <a:latin typeface="Consolas"/>
                <a:ea typeface="Consolas"/>
                <a:cs typeface="Consolas"/>
                <a:sym typeface="Consolas"/>
              </a:rPr>
              <a:t>df.loc[df['response_time_days'] &lt; 0, 'response_time_days'] = np.nan</a:t>
            </a:r>
          </a:p>
        </p:txBody>
      </p:sp>
      <p:grpSp>
        <p:nvGrpSpPr>
          <p:cNvPr name="Group 24" id="24"/>
          <p:cNvGrpSpPr/>
          <p:nvPr/>
        </p:nvGrpSpPr>
        <p:grpSpPr>
          <a:xfrm rot="0">
            <a:off x="10363676" y="2539441"/>
            <a:ext cx="2882608" cy="466709"/>
            <a:chOff x="0" y="0"/>
            <a:chExt cx="3843477" cy="622278"/>
          </a:xfrm>
        </p:grpSpPr>
        <p:sp>
          <p:nvSpPr>
            <p:cNvPr name="Freeform 25" id="25"/>
            <p:cNvSpPr/>
            <p:nvPr/>
          </p:nvSpPr>
          <p:spPr>
            <a:xfrm flipH="false" flipV="false" rot="0">
              <a:off x="0" y="0"/>
              <a:ext cx="3843528" cy="622304"/>
            </a:xfrm>
            <a:custGeom>
              <a:avLst/>
              <a:gdLst/>
              <a:ahLst/>
              <a:cxnLst/>
              <a:rect r="r" b="b" t="t" l="l"/>
              <a:pathLst>
                <a:path h="622304" w="3843528">
                  <a:moveTo>
                    <a:pt x="0" y="103760"/>
                  </a:moveTo>
                  <a:cubicBezTo>
                    <a:pt x="0" y="46482"/>
                    <a:pt x="46482" y="0"/>
                    <a:pt x="103759" y="0"/>
                  </a:cubicBezTo>
                  <a:lnTo>
                    <a:pt x="3739769" y="0"/>
                  </a:lnTo>
                  <a:cubicBezTo>
                    <a:pt x="3797046" y="0"/>
                    <a:pt x="3843528" y="46482"/>
                    <a:pt x="3843528" y="103760"/>
                  </a:cubicBezTo>
                  <a:lnTo>
                    <a:pt x="3843528" y="518544"/>
                  </a:lnTo>
                  <a:cubicBezTo>
                    <a:pt x="3843528" y="575821"/>
                    <a:pt x="3797046" y="622304"/>
                    <a:pt x="3739769" y="622304"/>
                  </a:cubicBezTo>
                  <a:lnTo>
                    <a:pt x="103759" y="622304"/>
                  </a:lnTo>
                  <a:cubicBezTo>
                    <a:pt x="46482" y="622304"/>
                    <a:pt x="0" y="575821"/>
                    <a:pt x="0" y="518544"/>
                  </a:cubicBezTo>
                  <a:close/>
                </a:path>
              </a:pathLst>
            </a:custGeom>
            <a:solidFill>
              <a:srgbClr val="4A9BC1"/>
            </a:solidFill>
          </p:spPr>
        </p:sp>
        <p:sp>
          <p:nvSpPr>
            <p:cNvPr name="TextBox 26" id="26"/>
            <p:cNvSpPr txBox="true"/>
            <p:nvPr/>
          </p:nvSpPr>
          <p:spPr>
            <a:xfrm>
              <a:off x="0" y="-38100"/>
              <a:ext cx="3843477"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Why it mattered</a:t>
              </a:r>
            </a:p>
          </p:txBody>
        </p:sp>
      </p:grpSp>
      <p:sp>
        <p:nvSpPr>
          <p:cNvPr name="TextBox 27" id="27"/>
          <p:cNvSpPr txBox="true"/>
          <p:nvPr/>
        </p:nvSpPr>
        <p:spPr>
          <a:xfrm rot="0">
            <a:off x="10478033" y="3127810"/>
            <a:ext cx="6497384" cy="2962275"/>
          </a:xfrm>
          <a:prstGeom prst="rect">
            <a:avLst/>
          </a:prstGeom>
        </p:spPr>
        <p:txBody>
          <a:bodyPr anchor="t" rtlCol="false" tIns="0" lIns="0" bIns="0" rIns="0">
            <a:spAutoFit/>
          </a:bodyPr>
          <a:lstStyle/>
          <a:p>
            <a:pPr algn="l">
              <a:lnSpc>
                <a:spcPts val="2557"/>
              </a:lnSpc>
            </a:pPr>
            <a:r>
              <a:rPr lang="en-US" sz="2131">
                <a:solidFill>
                  <a:srgbClr val="3D2A26"/>
                </a:solidFill>
                <a:latin typeface="Consolas"/>
                <a:ea typeface="Consolas"/>
                <a:cs typeface="Consolas"/>
                <a:sym typeface="Consolas"/>
              </a:rPr>
              <a:t>• month_name helped show seasonal patterns.</a:t>
            </a:r>
          </a:p>
          <a:p>
            <a:pPr algn="l">
              <a:lnSpc>
                <a:spcPts val="2557"/>
              </a:lnSpc>
            </a:pPr>
            <a:r>
              <a:rPr lang="en-US" sz="2131">
                <a:solidFill>
                  <a:srgbClr val="3D2A26"/>
                </a:solidFill>
                <a:latin typeface="Consolas"/>
                <a:ea typeface="Consolas"/>
                <a:cs typeface="Consolas"/>
                <a:sym typeface="Consolas"/>
              </a:rPr>
              <a:t>• day_of_week showed weekday versus weekend behavior.</a:t>
            </a:r>
          </a:p>
          <a:p>
            <a:pPr algn="l">
              <a:lnSpc>
                <a:spcPts val="2557"/>
              </a:lnSpc>
            </a:pPr>
            <a:r>
              <a:rPr lang="en-US" sz="2131">
                <a:solidFill>
                  <a:srgbClr val="3D2A26"/>
                </a:solidFill>
                <a:latin typeface="Consolas"/>
                <a:ea typeface="Consolas"/>
                <a:cs typeface="Consolas"/>
                <a:sym typeface="Consolas"/>
              </a:rPr>
              <a:t>• hour showed what time residents submitted requests.</a:t>
            </a:r>
          </a:p>
          <a:p>
            <a:pPr algn="l">
              <a:lnSpc>
                <a:spcPts val="2557"/>
              </a:lnSpc>
            </a:pPr>
            <a:r>
              <a:rPr lang="en-US" sz="2131">
                <a:solidFill>
                  <a:srgbClr val="3D2A26"/>
                </a:solidFill>
                <a:latin typeface="Consolas"/>
                <a:ea typeface="Consolas"/>
                <a:cs typeface="Consolas"/>
                <a:sym typeface="Consolas"/>
              </a:rPr>
              <a:t>• response_time_days measured how long requests took to close.</a:t>
            </a:r>
          </a:p>
          <a:p>
            <a:pPr algn="l">
              <a:lnSpc>
                <a:spcPts val="2557"/>
              </a:lnSpc>
            </a:pPr>
            <a:r>
              <a:rPr lang="en-US" sz="2131">
                <a:solidFill>
                  <a:srgbClr val="3D2A26"/>
                </a:solidFill>
                <a:latin typeface="Consolas"/>
                <a:ea typeface="Consolas"/>
                <a:cs typeface="Consolas"/>
                <a:sym typeface="Consolas"/>
              </a:rPr>
              <a:t>• Negative response times were removed because they did not make sense logically.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016985"/>
            <a:chOff x="0" y="0"/>
            <a:chExt cx="3294418" cy="2689314"/>
          </a:xfrm>
        </p:grpSpPr>
        <p:sp>
          <p:nvSpPr>
            <p:cNvPr name="Freeform 13" id="13" descr="image30.png"/>
            <p:cNvSpPr/>
            <p:nvPr/>
          </p:nvSpPr>
          <p:spPr>
            <a:xfrm flipH="false" flipV="false" rot="0">
              <a:off x="0" y="0"/>
              <a:ext cx="3294380" cy="2689352"/>
            </a:xfrm>
            <a:custGeom>
              <a:avLst/>
              <a:gdLst/>
              <a:ahLst/>
              <a:cxnLst/>
              <a:rect r="r" b="b" t="t" l="l"/>
              <a:pathLst>
                <a:path h="2689352" w="3294380">
                  <a:moveTo>
                    <a:pt x="0" y="0"/>
                  </a:moveTo>
                  <a:lnTo>
                    <a:pt x="3294380" y="0"/>
                  </a:lnTo>
                  <a:lnTo>
                    <a:pt x="3294380" y="2689352"/>
                  </a:lnTo>
                  <a:lnTo>
                    <a:pt x="0" y="2689352"/>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07</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Top 10 Most Common Request Types</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The real notebook graph uses service codes, so I translated the main codes into meaning.</a:t>
            </a:r>
          </a:p>
        </p:txBody>
      </p:sp>
      <p:grpSp>
        <p:nvGrpSpPr>
          <p:cNvPr name="Group 20" id="20"/>
          <p:cNvGrpSpPr/>
          <p:nvPr/>
        </p:nvGrpSpPr>
        <p:grpSpPr>
          <a:xfrm rot="0">
            <a:off x="754971" y="2445932"/>
            <a:ext cx="10971106" cy="5431570"/>
            <a:chOff x="0" y="0"/>
            <a:chExt cx="16820616" cy="8327542"/>
          </a:xfrm>
        </p:grpSpPr>
        <p:sp>
          <p:nvSpPr>
            <p:cNvPr name="Freeform 21" id="21" descr="top 10 most common service req dataset.png"/>
            <p:cNvSpPr/>
            <p:nvPr/>
          </p:nvSpPr>
          <p:spPr>
            <a:xfrm flipH="false" flipV="false" rot="0">
              <a:off x="0" y="0"/>
              <a:ext cx="16820617" cy="8327517"/>
            </a:xfrm>
            <a:custGeom>
              <a:avLst/>
              <a:gdLst/>
              <a:ahLst/>
              <a:cxnLst/>
              <a:rect r="r" b="b" t="t" l="l"/>
              <a:pathLst>
                <a:path h="8327517" w="16820617">
                  <a:moveTo>
                    <a:pt x="0" y="0"/>
                  </a:moveTo>
                  <a:lnTo>
                    <a:pt x="16820617" y="0"/>
                  </a:lnTo>
                  <a:lnTo>
                    <a:pt x="16820617" y="8327517"/>
                  </a:lnTo>
                  <a:lnTo>
                    <a:pt x="0" y="8327517"/>
                  </a:lnTo>
                  <a:lnTo>
                    <a:pt x="0" y="0"/>
                  </a:lnTo>
                  <a:close/>
                </a:path>
              </a:pathLst>
            </a:custGeom>
            <a:blipFill>
              <a:blip r:embed="rId5"/>
              <a:stretch>
                <a:fillRect l="-95" t="0" r="-94" b="0"/>
              </a:stretch>
            </a:blipFill>
          </p:spPr>
        </p:sp>
      </p:grpSp>
      <p:grpSp>
        <p:nvGrpSpPr>
          <p:cNvPr name="Group 22" id="22"/>
          <p:cNvGrpSpPr/>
          <p:nvPr/>
        </p:nvGrpSpPr>
        <p:grpSpPr>
          <a:xfrm rot="0">
            <a:off x="11873617" y="2361000"/>
            <a:ext cx="3019882" cy="466709"/>
            <a:chOff x="0" y="0"/>
            <a:chExt cx="4026510" cy="622278"/>
          </a:xfrm>
        </p:grpSpPr>
        <p:sp>
          <p:nvSpPr>
            <p:cNvPr name="Freeform 23" id="23"/>
            <p:cNvSpPr/>
            <p:nvPr/>
          </p:nvSpPr>
          <p:spPr>
            <a:xfrm flipH="false" flipV="false" rot="0">
              <a:off x="0" y="0"/>
              <a:ext cx="4026535" cy="622304"/>
            </a:xfrm>
            <a:custGeom>
              <a:avLst/>
              <a:gdLst/>
              <a:ahLst/>
              <a:cxnLst/>
              <a:rect r="r" b="b" t="t" l="l"/>
              <a:pathLst>
                <a:path h="622304" w="4026535">
                  <a:moveTo>
                    <a:pt x="0" y="103760"/>
                  </a:moveTo>
                  <a:cubicBezTo>
                    <a:pt x="0" y="46482"/>
                    <a:pt x="46482" y="0"/>
                    <a:pt x="103759" y="0"/>
                  </a:cubicBezTo>
                  <a:lnTo>
                    <a:pt x="3922776" y="0"/>
                  </a:lnTo>
                  <a:cubicBezTo>
                    <a:pt x="3980053" y="0"/>
                    <a:pt x="4026535" y="46482"/>
                    <a:pt x="4026535" y="103760"/>
                  </a:cubicBezTo>
                  <a:lnTo>
                    <a:pt x="4026535" y="518544"/>
                  </a:lnTo>
                  <a:cubicBezTo>
                    <a:pt x="4026535" y="575821"/>
                    <a:pt x="3980053" y="622304"/>
                    <a:pt x="3922776" y="622304"/>
                  </a:cubicBezTo>
                  <a:lnTo>
                    <a:pt x="103759" y="622304"/>
                  </a:lnTo>
                  <a:cubicBezTo>
                    <a:pt x="46482" y="622304"/>
                    <a:pt x="0" y="575821"/>
                    <a:pt x="0" y="518544"/>
                  </a:cubicBezTo>
                  <a:close/>
                </a:path>
              </a:pathLst>
            </a:custGeom>
            <a:solidFill>
              <a:srgbClr val="4A9BC1"/>
            </a:solidFill>
          </p:spPr>
        </p:sp>
        <p:sp>
          <p:nvSpPr>
            <p:cNvPr name="TextBox 24" id="24"/>
            <p:cNvSpPr txBox="true"/>
            <p:nvPr/>
          </p:nvSpPr>
          <p:spPr>
            <a:xfrm>
              <a:off x="0" y="-38100"/>
              <a:ext cx="4026510"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Code translation</a:t>
              </a:r>
            </a:p>
          </p:txBody>
        </p:sp>
      </p:grpSp>
      <p:sp>
        <p:nvSpPr>
          <p:cNvPr name="TextBox 25" id="25"/>
          <p:cNvSpPr txBox="true"/>
          <p:nvPr/>
        </p:nvSpPr>
        <p:spPr>
          <a:xfrm rot="0">
            <a:off x="11919337" y="2949359"/>
            <a:ext cx="5399246" cy="1476375"/>
          </a:xfrm>
          <a:prstGeom prst="rect">
            <a:avLst/>
          </a:prstGeom>
        </p:spPr>
        <p:txBody>
          <a:bodyPr anchor="t" rtlCol="false" tIns="0" lIns="0" bIns="0" rIns="0">
            <a:spAutoFit/>
          </a:bodyPr>
          <a:lstStyle/>
          <a:p>
            <a:pPr algn="l">
              <a:lnSpc>
                <a:spcPts val="2251"/>
              </a:lnSpc>
            </a:pPr>
            <a:r>
              <a:rPr lang="en-US" sz="1876">
                <a:solidFill>
                  <a:srgbClr val="3D2A26"/>
                </a:solidFill>
                <a:latin typeface="Consolas"/>
                <a:ea typeface="Consolas"/>
                <a:cs typeface="Consolas"/>
                <a:sym typeface="Consolas"/>
              </a:rPr>
              <a:t>• S0031 = Bulk Collection, 67,414</a:t>
            </a:r>
          </a:p>
          <a:p>
            <a:pPr algn="l">
              <a:lnSpc>
                <a:spcPts val="2251"/>
              </a:lnSpc>
            </a:pPr>
            <a:r>
              <a:rPr lang="en-US" sz="1876">
                <a:solidFill>
                  <a:srgbClr val="3D2A26"/>
                </a:solidFill>
                <a:latin typeface="Consolas"/>
                <a:ea typeface="Consolas"/>
                <a:cs typeface="Consolas"/>
                <a:sym typeface="Consolas"/>
              </a:rPr>
              <a:t>• S0261 = Parking Enforcement, 58,149</a:t>
            </a:r>
          </a:p>
          <a:p>
            <a:pPr algn="l">
              <a:lnSpc>
                <a:spcPts val="2251"/>
              </a:lnSpc>
            </a:pPr>
            <a:r>
              <a:rPr lang="en-US" sz="1876">
                <a:solidFill>
                  <a:srgbClr val="3D2A26"/>
                </a:solidFill>
                <a:latin typeface="Consolas"/>
                <a:ea typeface="Consolas"/>
                <a:cs typeface="Consolas"/>
                <a:sym typeface="Consolas"/>
              </a:rPr>
              <a:t>• S0477 = Scheduled Yard Waste, 36,011</a:t>
            </a:r>
          </a:p>
          <a:p>
            <a:pPr algn="l">
              <a:lnSpc>
                <a:spcPts val="2251"/>
              </a:lnSpc>
            </a:pPr>
            <a:r>
              <a:rPr lang="en-US" sz="1876">
                <a:solidFill>
                  <a:srgbClr val="3D2A26"/>
                </a:solidFill>
                <a:latin typeface="Consolas"/>
                <a:ea typeface="Consolas"/>
                <a:cs typeface="Consolas"/>
                <a:sym typeface="Consolas"/>
              </a:rPr>
              <a:t>• S0441 = Trash Collection Missed, 25,722</a:t>
            </a:r>
          </a:p>
          <a:p>
            <a:pPr algn="l">
              <a:lnSpc>
                <a:spcPts val="2251"/>
              </a:lnSpc>
            </a:pPr>
            <a:r>
              <a:rPr lang="en-US" sz="1876">
                <a:solidFill>
                  <a:srgbClr val="3D2A26"/>
                </a:solidFill>
                <a:latin typeface="Consolas"/>
                <a:ea typeface="Consolas"/>
                <a:cs typeface="Consolas"/>
                <a:sym typeface="Consolas"/>
              </a:rPr>
              <a:t>• DCGOVTINFO = DC Government Information</a:t>
            </a:r>
          </a:p>
        </p:txBody>
      </p:sp>
      <p:sp>
        <p:nvSpPr>
          <p:cNvPr name="TextBox 26" id="26"/>
          <p:cNvSpPr txBox="true"/>
          <p:nvPr/>
        </p:nvSpPr>
        <p:spPr>
          <a:xfrm rot="0">
            <a:off x="11919337" y="7177192"/>
            <a:ext cx="5124717" cy="990600"/>
          </a:xfrm>
          <a:prstGeom prst="rect">
            <a:avLst/>
          </a:prstGeom>
        </p:spPr>
        <p:txBody>
          <a:bodyPr anchor="t" rtlCol="false" tIns="0" lIns="0" bIns="0" rIns="0">
            <a:spAutoFit/>
          </a:bodyPr>
          <a:lstStyle/>
          <a:p>
            <a:pPr algn="l">
              <a:lnSpc>
                <a:spcPts val="2521"/>
              </a:lnSpc>
            </a:pPr>
            <a:r>
              <a:rPr lang="en-US" sz="2101" b="true">
                <a:solidFill>
                  <a:srgbClr val="6F4336"/>
                </a:solidFill>
                <a:latin typeface="Consolas Bold"/>
                <a:ea typeface="Consolas Bold"/>
                <a:cs typeface="Consolas Bold"/>
                <a:sym typeface="Consolas Bold"/>
              </a:rPr>
              <a:t>Finding: the most common requests were practical neighborhood service needs.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89317"/>
            <a:chOff x="0" y="0"/>
            <a:chExt cx="3294418" cy="3585756"/>
          </a:xfrm>
        </p:grpSpPr>
        <p:sp>
          <p:nvSpPr>
            <p:cNvPr name="Freeform 13" id="13" descr="image16.png"/>
            <p:cNvSpPr/>
            <p:nvPr/>
          </p:nvSpPr>
          <p:spPr>
            <a:xfrm flipH="false" flipV="false" rot="0">
              <a:off x="0" y="0"/>
              <a:ext cx="3294380" cy="3585718"/>
            </a:xfrm>
            <a:custGeom>
              <a:avLst/>
              <a:gdLst/>
              <a:ahLst/>
              <a:cxnLst/>
              <a:rect r="r" b="b" t="t" l="l"/>
              <a:pathLst>
                <a:path h="3585718" w="3294380">
                  <a:moveTo>
                    <a:pt x="0" y="0"/>
                  </a:moveTo>
                  <a:lnTo>
                    <a:pt x="3294380" y="0"/>
                  </a:lnTo>
                  <a:lnTo>
                    <a:pt x="3294380" y="3585718"/>
                  </a:lnTo>
                  <a:lnTo>
                    <a:pt x="0" y="358571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08</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Status of 311 Service Requests</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Most requests were closed, but some were duplicates, open, canceled, or in progress.</a:t>
            </a:r>
          </a:p>
        </p:txBody>
      </p:sp>
      <p:grpSp>
        <p:nvGrpSpPr>
          <p:cNvPr name="Group 20" id="20"/>
          <p:cNvGrpSpPr/>
          <p:nvPr/>
        </p:nvGrpSpPr>
        <p:grpSpPr>
          <a:xfrm rot="0">
            <a:off x="1159862" y="2339931"/>
            <a:ext cx="10057036" cy="6245657"/>
            <a:chOff x="0" y="0"/>
            <a:chExt cx="13409382" cy="8327542"/>
          </a:xfrm>
        </p:grpSpPr>
        <p:sp>
          <p:nvSpPr>
            <p:cNvPr name="Freeform 21" id="21" descr="satus of 311 dataset.png"/>
            <p:cNvSpPr/>
            <p:nvPr/>
          </p:nvSpPr>
          <p:spPr>
            <a:xfrm flipH="false" flipV="false" rot="0">
              <a:off x="0" y="0"/>
              <a:ext cx="13409369" cy="8327517"/>
            </a:xfrm>
            <a:custGeom>
              <a:avLst/>
              <a:gdLst/>
              <a:ahLst/>
              <a:cxnLst/>
              <a:rect r="r" b="b" t="t" l="l"/>
              <a:pathLst>
                <a:path h="8327517" w="13409369">
                  <a:moveTo>
                    <a:pt x="0" y="0"/>
                  </a:moveTo>
                  <a:lnTo>
                    <a:pt x="13409369" y="0"/>
                  </a:lnTo>
                  <a:lnTo>
                    <a:pt x="13409369" y="8327517"/>
                  </a:lnTo>
                  <a:lnTo>
                    <a:pt x="0" y="8327517"/>
                  </a:lnTo>
                  <a:lnTo>
                    <a:pt x="0" y="0"/>
                  </a:lnTo>
                  <a:close/>
                </a:path>
              </a:pathLst>
            </a:custGeom>
            <a:blipFill>
              <a:blip r:embed="rId5"/>
              <a:stretch>
                <a:fillRect l="-56" t="0" r="-56" b="0"/>
              </a:stretch>
            </a:blipFill>
          </p:spPr>
        </p:sp>
      </p:grpSp>
      <p:grpSp>
        <p:nvGrpSpPr>
          <p:cNvPr name="Group 22" id="22"/>
          <p:cNvGrpSpPr/>
          <p:nvPr/>
        </p:nvGrpSpPr>
        <p:grpSpPr>
          <a:xfrm rot="0">
            <a:off x="11999443" y="2390737"/>
            <a:ext cx="4140898" cy="1532820"/>
            <a:chOff x="0" y="0"/>
            <a:chExt cx="5521198" cy="2043760"/>
          </a:xfrm>
        </p:grpSpPr>
        <p:sp>
          <p:nvSpPr>
            <p:cNvPr name="Freeform 23" id="23"/>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24" id="24"/>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C25F4A"/>
            </a:solidFill>
          </p:spPr>
        </p:sp>
      </p:grpSp>
      <p:sp>
        <p:nvSpPr>
          <p:cNvPr name="TextBox 25" id="25"/>
          <p:cNvSpPr txBox="true"/>
          <p:nvPr/>
        </p:nvSpPr>
        <p:spPr>
          <a:xfrm rot="0">
            <a:off x="12303681" y="255661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CLOSED</a:t>
            </a:r>
          </a:p>
        </p:txBody>
      </p:sp>
      <p:sp>
        <p:nvSpPr>
          <p:cNvPr name="TextBox 26" id="26"/>
          <p:cNvSpPr txBox="true"/>
          <p:nvPr/>
        </p:nvSpPr>
        <p:spPr>
          <a:xfrm rot="0">
            <a:off x="12303681" y="2875407"/>
            <a:ext cx="3532413"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422,406</a:t>
            </a:r>
          </a:p>
        </p:txBody>
      </p:sp>
      <p:sp>
        <p:nvSpPr>
          <p:cNvPr name="TextBox 27" id="27"/>
          <p:cNvSpPr txBox="true"/>
          <p:nvPr/>
        </p:nvSpPr>
        <p:spPr>
          <a:xfrm rot="0">
            <a:off x="12235053" y="3361182"/>
            <a:ext cx="3532413" cy="45720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Most records reached completed status</a:t>
            </a:r>
          </a:p>
        </p:txBody>
      </p:sp>
      <p:grpSp>
        <p:nvGrpSpPr>
          <p:cNvPr name="Group 28" id="28"/>
          <p:cNvGrpSpPr/>
          <p:nvPr/>
        </p:nvGrpSpPr>
        <p:grpSpPr>
          <a:xfrm rot="0">
            <a:off x="11999443" y="4175208"/>
            <a:ext cx="4140898" cy="1532820"/>
            <a:chOff x="0" y="0"/>
            <a:chExt cx="5521198" cy="2043760"/>
          </a:xfrm>
        </p:grpSpPr>
        <p:sp>
          <p:nvSpPr>
            <p:cNvPr name="Freeform 29" id="29"/>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30" id="30"/>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4A9BC1"/>
            </a:solidFill>
          </p:spPr>
        </p:sp>
      </p:grpSp>
      <p:sp>
        <p:nvSpPr>
          <p:cNvPr name="TextBox 31" id="31"/>
          <p:cNvSpPr txBox="true"/>
          <p:nvPr/>
        </p:nvSpPr>
        <p:spPr>
          <a:xfrm rot="0">
            <a:off x="12303681" y="434108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DUPLICATE</a:t>
            </a:r>
          </a:p>
        </p:txBody>
      </p:sp>
      <p:sp>
        <p:nvSpPr>
          <p:cNvPr name="TextBox 32" id="32"/>
          <p:cNvSpPr txBox="true"/>
          <p:nvPr/>
        </p:nvSpPr>
        <p:spPr>
          <a:xfrm rot="0">
            <a:off x="12303681" y="4659878"/>
            <a:ext cx="3532413" cy="523875"/>
          </a:xfrm>
          <a:prstGeom prst="rect">
            <a:avLst/>
          </a:prstGeom>
        </p:spPr>
        <p:txBody>
          <a:bodyPr anchor="t" rtlCol="false" tIns="0" lIns="0" bIns="0" rIns="0">
            <a:spAutoFit/>
          </a:bodyPr>
          <a:lstStyle/>
          <a:p>
            <a:pPr algn="l">
              <a:lnSpc>
                <a:spcPts val="3602"/>
              </a:lnSpc>
            </a:pPr>
            <a:r>
              <a:rPr lang="en-US" sz="3002" b="true">
                <a:solidFill>
                  <a:srgbClr val="4A9BC1"/>
                </a:solidFill>
                <a:latin typeface="Consolas Bold"/>
                <a:ea typeface="Consolas Bold"/>
                <a:cs typeface="Consolas Bold"/>
                <a:sym typeface="Consolas Bold"/>
              </a:rPr>
              <a:t>8,764</a:t>
            </a:r>
          </a:p>
        </p:txBody>
      </p:sp>
      <p:sp>
        <p:nvSpPr>
          <p:cNvPr name="TextBox 33" id="33"/>
          <p:cNvSpPr txBox="true"/>
          <p:nvPr/>
        </p:nvSpPr>
        <p:spPr>
          <a:xfrm rot="0">
            <a:off x="12303681" y="5319884"/>
            <a:ext cx="3532413"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Closed duplicate records</a:t>
            </a:r>
          </a:p>
        </p:txBody>
      </p:sp>
      <p:sp>
        <p:nvSpPr>
          <p:cNvPr name="TextBox 34" id="34"/>
          <p:cNvSpPr txBox="true"/>
          <p:nvPr/>
        </p:nvSpPr>
        <p:spPr>
          <a:xfrm rot="0">
            <a:off x="12056602" y="6353594"/>
            <a:ext cx="4850178" cy="1304925"/>
          </a:xfrm>
          <a:prstGeom prst="rect">
            <a:avLst/>
          </a:prstGeom>
        </p:spPr>
        <p:txBody>
          <a:bodyPr anchor="t" rtlCol="false" tIns="0" lIns="0" bIns="0" rIns="0">
            <a:spAutoFit/>
          </a:bodyPr>
          <a:lstStyle/>
          <a:p>
            <a:pPr algn="l">
              <a:lnSpc>
                <a:spcPts val="2521"/>
              </a:lnSpc>
            </a:pPr>
            <a:r>
              <a:rPr lang="en-US" sz="2101" b="true">
                <a:solidFill>
                  <a:srgbClr val="3D2A26"/>
                </a:solidFill>
                <a:latin typeface="Consolas Bold"/>
                <a:ea typeface="Consolas Bold"/>
                <a:cs typeface="Consolas Bold"/>
                <a:sym typeface="Consolas Bold"/>
              </a:rPr>
              <a:t>Interpretation: status adds context because it shows what happened after residents submitted requests.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71143"/>
            <a:chOff x="0" y="0"/>
            <a:chExt cx="3294418" cy="3561524"/>
          </a:xfrm>
        </p:grpSpPr>
        <p:sp>
          <p:nvSpPr>
            <p:cNvPr name="Freeform 13" id="13" descr="image18.png"/>
            <p:cNvSpPr/>
            <p:nvPr/>
          </p:nvSpPr>
          <p:spPr>
            <a:xfrm flipH="false" flipV="false" rot="0">
              <a:off x="0" y="0"/>
              <a:ext cx="3294380" cy="3561588"/>
            </a:xfrm>
            <a:custGeom>
              <a:avLst/>
              <a:gdLst/>
              <a:ahLst/>
              <a:cxnLst/>
              <a:rect r="r" b="b" t="t" l="l"/>
              <a:pathLst>
                <a:path h="3561588" w="3294380">
                  <a:moveTo>
                    <a:pt x="0" y="0"/>
                  </a:moveTo>
                  <a:lnTo>
                    <a:pt x="3294380" y="0"/>
                  </a:lnTo>
                  <a:lnTo>
                    <a:pt x="3294380" y="3561588"/>
                  </a:lnTo>
                  <a:lnTo>
                    <a:pt x="0" y="356158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09</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311 Service Requests by Ward</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Request volume was not evenly distributed across the city.</a:t>
            </a:r>
          </a:p>
        </p:txBody>
      </p:sp>
      <p:grpSp>
        <p:nvGrpSpPr>
          <p:cNvPr name="Group 20" id="20"/>
          <p:cNvGrpSpPr/>
          <p:nvPr/>
        </p:nvGrpSpPr>
        <p:grpSpPr>
          <a:xfrm rot="0">
            <a:off x="851059" y="2550190"/>
            <a:ext cx="10746760" cy="5186620"/>
            <a:chOff x="0" y="0"/>
            <a:chExt cx="16952485" cy="8181637"/>
          </a:xfrm>
        </p:grpSpPr>
        <p:sp>
          <p:nvSpPr>
            <p:cNvPr name="Freeform 21" id="21" descr="311 by ward.png"/>
            <p:cNvSpPr/>
            <p:nvPr/>
          </p:nvSpPr>
          <p:spPr>
            <a:xfrm flipH="false" flipV="false" rot="0">
              <a:off x="0" y="0"/>
              <a:ext cx="16952469" cy="8181613"/>
            </a:xfrm>
            <a:custGeom>
              <a:avLst/>
              <a:gdLst/>
              <a:ahLst/>
              <a:cxnLst/>
              <a:rect r="r" b="b" t="t" l="l"/>
              <a:pathLst>
                <a:path h="8181613" w="16952469">
                  <a:moveTo>
                    <a:pt x="0" y="0"/>
                  </a:moveTo>
                  <a:lnTo>
                    <a:pt x="16952469" y="0"/>
                  </a:lnTo>
                  <a:lnTo>
                    <a:pt x="16952469" y="8181613"/>
                  </a:lnTo>
                  <a:lnTo>
                    <a:pt x="0" y="8181613"/>
                  </a:lnTo>
                  <a:lnTo>
                    <a:pt x="0" y="0"/>
                  </a:lnTo>
                  <a:close/>
                </a:path>
              </a:pathLst>
            </a:custGeom>
            <a:blipFill>
              <a:blip r:embed="rId5"/>
              <a:stretch>
                <a:fillRect l="0" t="-1120" r="0" b="-1120"/>
              </a:stretch>
            </a:blipFill>
          </p:spPr>
        </p:sp>
      </p:grpSp>
      <p:grpSp>
        <p:nvGrpSpPr>
          <p:cNvPr name="Group 22" id="22"/>
          <p:cNvGrpSpPr/>
          <p:nvPr/>
        </p:nvGrpSpPr>
        <p:grpSpPr>
          <a:xfrm rot="0">
            <a:off x="11999443" y="2390737"/>
            <a:ext cx="4140898" cy="1532820"/>
            <a:chOff x="0" y="0"/>
            <a:chExt cx="5521198" cy="2043760"/>
          </a:xfrm>
        </p:grpSpPr>
        <p:sp>
          <p:nvSpPr>
            <p:cNvPr name="Freeform 23" id="23"/>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24" id="24"/>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C25F4A"/>
            </a:solidFill>
          </p:spPr>
        </p:sp>
      </p:grpSp>
      <p:sp>
        <p:nvSpPr>
          <p:cNvPr name="TextBox 25" id="25"/>
          <p:cNvSpPr txBox="true"/>
          <p:nvPr/>
        </p:nvSpPr>
        <p:spPr>
          <a:xfrm rot="0">
            <a:off x="12303681" y="255661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HIGHEST WARD</a:t>
            </a:r>
          </a:p>
        </p:txBody>
      </p:sp>
      <p:sp>
        <p:nvSpPr>
          <p:cNvPr name="TextBox 26" id="26"/>
          <p:cNvSpPr txBox="true"/>
          <p:nvPr/>
        </p:nvSpPr>
        <p:spPr>
          <a:xfrm rot="0">
            <a:off x="12303681" y="2875407"/>
            <a:ext cx="3532413"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Ward 5</a:t>
            </a:r>
          </a:p>
        </p:txBody>
      </p:sp>
      <p:sp>
        <p:nvSpPr>
          <p:cNvPr name="TextBox 27" id="27"/>
          <p:cNvSpPr txBox="true"/>
          <p:nvPr/>
        </p:nvSpPr>
        <p:spPr>
          <a:xfrm rot="0">
            <a:off x="12303681" y="3535413"/>
            <a:ext cx="3532413"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66,950 requests</a:t>
            </a:r>
          </a:p>
        </p:txBody>
      </p:sp>
      <p:grpSp>
        <p:nvGrpSpPr>
          <p:cNvPr name="Group 28" id="28"/>
          <p:cNvGrpSpPr/>
          <p:nvPr/>
        </p:nvGrpSpPr>
        <p:grpSpPr>
          <a:xfrm rot="0">
            <a:off x="11999443" y="4175208"/>
            <a:ext cx="4140898" cy="1532820"/>
            <a:chOff x="0" y="0"/>
            <a:chExt cx="5521198" cy="2043760"/>
          </a:xfrm>
        </p:grpSpPr>
        <p:sp>
          <p:nvSpPr>
            <p:cNvPr name="Freeform 29" id="29"/>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30" id="30"/>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4A9BC1"/>
            </a:solidFill>
          </p:spPr>
        </p:sp>
      </p:grpSp>
      <p:sp>
        <p:nvSpPr>
          <p:cNvPr name="TextBox 31" id="31"/>
          <p:cNvSpPr txBox="true"/>
          <p:nvPr/>
        </p:nvSpPr>
        <p:spPr>
          <a:xfrm rot="0">
            <a:off x="12303681" y="434108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OTHER HIGH WARDS</a:t>
            </a:r>
          </a:p>
        </p:txBody>
      </p:sp>
      <p:sp>
        <p:nvSpPr>
          <p:cNvPr name="TextBox 32" id="32"/>
          <p:cNvSpPr txBox="true"/>
          <p:nvPr/>
        </p:nvSpPr>
        <p:spPr>
          <a:xfrm rot="0">
            <a:off x="12303681" y="4659878"/>
            <a:ext cx="3532413" cy="523875"/>
          </a:xfrm>
          <a:prstGeom prst="rect">
            <a:avLst/>
          </a:prstGeom>
        </p:spPr>
        <p:txBody>
          <a:bodyPr anchor="t" rtlCol="false" tIns="0" lIns="0" bIns="0" rIns="0">
            <a:spAutoFit/>
          </a:bodyPr>
          <a:lstStyle/>
          <a:p>
            <a:pPr algn="l">
              <a:lnSpc>
                <a:spcPts val="3602"/>
              </a:lnSpc>
            </a:pPr>
            <a:r>
              <a:rPr lang="en-US" sz="3002" b="true">
                <a:solidFill>
                  <a:srgbClr val="4A9BC1"/>
                </a:solidFill>
                <a:latin typeface="Consolas Bold"/>
                <a:ea typeface="Consolas Bold"/>
                <a:cs typeface="Consolas Bold"/>
                <a:sym typeface="Consolas Bold"/>
              </a:rPr>
              <a:t>4 and 6</a:t>
            </a:r>
          </a:p>
        </p:txBody>
      </p:sp>
      <p:sp>
        <p:nvSpPr>
          <p:cNvPr name="TextBox 33" id="33"/>
          <p:cNvSpPr txBox="true"/>
          <p:nvPr/>
        </p:nvSpPr>
        <p:spPr>
          <a:xfrm rot="0">
            <a:off x="12303681" y="5319884"/>
            <a:ext cx="3532413"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Ward 4: 65,170 | Ward 6: 64,108</a:t>
            </a:r>
          </a:p>
        </p:txBody>
      </p:sp>
      <p:sp>
        <p:nvSpPr>
          <p:cNvPr name="TextBox 34" id="34"/>
          <p:cNvSpPr txBox="true"/>
          <p:nvPr/>
        </p:nvSpPr>
        <p:spPr>
          <a:xfrm rot="0">
            <a:off x="12056602" y="6363119"/>
            <a:ext cx="4850178" cy="952500"/>
          </a:xfrm>
          <a:prstGeom prst="rect">
            <a:avLst/>
          </a:prstGeom>
        </p:spPr>
        <p:txBody>
          <a:bodyPr anchor="t" rtlCol="false" tIns="0" lIns="0" bIns="0" rIns="0">
            <a:spAutoFit/>
          </a:bodyPr>
          <a:lstStyle/>
          <a:p>
            <a:pPr algn="l">
              <a:lnSpc>
                <a:spcPts val="2431"/>
              </a:lnSpc>
            </a:pPr>
            <a:r>
              <a:rPr lang="en-US" sz="2026" b="true">
                <a:solidFill>
                  <a:srgbClr val="6F4336"/>
                </a:solidFill>
                <a:latin typeface="Consolas Bold"/>
                <a:ea typeface="Consolas Bold"/>
                <a:cs typeface="Consolas Bold"/>
                <a:sym typeface="Consolas Bold"/>
              </a:rPr>
              <a:t>Caution: more requests can reflect population, infrastructure needs, or higher reporting behavior.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353151"/>
            <a:chOff x="0" y="0"/>
            <a:chExt cx="3294418" cy="3137535"/>
          </a:xfrm>
        </p:grpSpPr>
        <p:sp>
          <p:nvSpPr>
            <p:cNvPr name="Freeform 13" id="13" descr="image20.png"/>
            <p:cNvSpPr/>
            <p:nvPr/>
          </p:nvSpPr>
          <p:spPr>
            <a:xfrm flipH="false" flipV="false" rot="0">
              <a:off x="0" y="0"/>
              <a:ext cx="3294380" cy="3137535"/>
            </a:xfrm>
            <a:custGeom>
              <a:avLst/>
              <a:gdLst/>
              <a:ahLst/>
              <a:cxnLst/>
              <a:rect r="r" b="b" t="t" l="l"/>
              <a:pathLst>
                <a:path h="3137535" w="3294380">
                  <a:moveTo>
                    <a:pt x="0" y="0"/>
                  </a:moveTo>
                  <a:lnTo>
                    <a:pt x="3294380" y="0"/>
                  </a:lnTo>
                  <a:lnTo>
                    <a:pt x="3294380" y="3137535"/>
                  </a:lnTo>
                  <a:lnTo>
                    <a:pt x="0" y="3137535"/>
                  </a:lnTo>
                  <a:lnTo>
                    <a:pt x="0" y="0"/>
                  </a:lnTo>
                  <a:close/>
                </a:path>
              </a:pathLst>
            </a:custGeom>
            <a:blipFill>
              <a:blip r:embed="rId4"/>
              <a:stretch>
                <a:fillRect l="0" t="0" r="-1" b="0"/>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10</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Top 5 Request Types by Ward</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This additional analysis combines location with request type.</a:t>
            </a:r>
          </a:p>
        </p:txBody>
      </p:sp>
      <p:grpSp>
        <p:nvGrpSpPr>
          <p:cNvPr name="Group 20" id="20"/>
          <p:cNvGrpSpPr/>
          <p:nvPr/>
        </p:nvGrpSpPr>
        <p:grpSpPr>
          <a:xfrm rot="0">
            <a:off x="523368" y="2379158"/>
            <a:ext cx="11317134" cy="5620467"/>
            <a:chOff x="0" y="0"/>
            <a:chExt cx="16883943" cy="8385130"/>
          </a:xfrm>
        </p:grpSpPr>
        <p:sp>
          <p:nvSpPr>
            <p:cNvPr name="Freeform 21" id="21" descr="top 5 311 by ward.png"/>
            <p:cNvSpPr/>
            <p:nvPr/>
          </p:nvSpPr>
          <p:spPr>
            <a:xfrm flipH="false" flipV="false" rot="0">
              <a:off x="0" y="0"/>
              <a:ext cx="16883897" cy="8385104"/>
            </a:xfrm>
            <a:custGeom>
              <a:avLst/>
              <a:gdLst/>
              <a:ahLst/>
              <a:cxnLst/>
              <a:rect r="r" b="b" t="t" l="l"/>
              <a:pathLst>
                <a:path h="8385104" w="16883897">
                  <a:moveTo>
                    <a:pt x="0" y="0"/>
                  </a:moveTo>
                  <a:lnTo>
                    <a:pt x="16883897" y="0"/>
                  </a:lnTo>
                  <a:lnTo>
                    <a:pt x="16883897" y="8385104"/>
                  </a:lnTo>
                  <a:lnTo>
                    <a:pt x="0" y="8385104"/>
                  </a:lnTo>
                  <a:lnTo>
                    <a:pt x="0" y="0"/>
                  </a:lnTo>
                  <a:close/>
                </a:path>
              </a:pathLst>
            </a:custGeom>
            <a:blipFill>
              <a:blip r:embed="rId5"/>
              <a:stretch>
                <a:fillRect l="-153" t="0" r="-153" b="0"/>
              </a:stretch>
            </a:blipFill>
          </p:spPr>
        </p:sp>
      </p:grpSp>
      <p:grpSp>
        <p:nvGrpSpPr>
          <p:cNvPr name="Group 22" id="22"/>
          <p:cNvGrpSpPr/>
          <p:nvPr/>
        </p:nvGrpSpPr>
        <p:grpSpPr>
          <a:xfrm rot="0">
            <a:off x="12079519" y="2402176"/>
            <a:ext cx="2882608" cy="466709"/>
            <a:chOff x="0" y="0"/>
            <a:chExt cx="3843477" cy="622278"/>
          </a:xfrm>
        </p:grpSpPr>
        <p:sp>
          <p:nvSpPr>
            <p:cNvPr name="Freeform 23" id="23"/>
            <p:cNvSpPr/>
            <p:nvPr/>
          </p:nvSpPr>
          <p:spPr>
            <a:xfrm flipH="false" flipV="false" rot="0">
              <a:off x="0" y="0"/>
              <a:ext cx="3843528" cy="622304"/>
            </a:xfrm>
            <a:custGeom>
              <a:avLst/>
              <a:gdLst/>
              <a:ahLst/>
              <a:cxnLst/>
              <a:rect r="r" b="b" t="t" l="l"/>
              <a:pathLst>
                <a:path h="622304" w="3843528">
                  <a:moveTo>
                    <a:pt x="0" y="103760"/>
                  </a:moveTo>
                  <a:cubicBezTo>
                    <a:pt x="0" y="46482"/>
                    <a:pt x="46482" y="0"/>
                    <a:pt x="103759" y="0"/>
                  </a:cubicBezTo>
                  <a:lnTo>
                    <a:pt x="3739769" y="0"/>
                  </a:lnTo>
                  <a:cubicBezTo>
                    <a:pt x="3797046" y="0"/>
                    <a:pt x="3843528" y="46482"/>
                    <a:pt x="3843528" y="103760"/>
                  </a:cubicBezTo>
                  <a:lnTo>
                    <a:pt x="3843528" y="518544"/>
                  </a:lnTo>
                  <a:cubicBezTo>
                    <a:pt x="3843528" y="575821"/>
                    <a:pt x="3797046" y="622304"/>
                    <a:pt x="3739769" y="622304"/>
                  </a:cubicBezTo>
                  <a:lnTo>
                    <a:pt x="103759" y="622304"/>
                  </a:lnTo>
                  <a:cubicBezTo>
                    <a:pt x="46482" y="622304"/>
                    <a:pt x="0" y="575821"/>
                    <a:pt x="0" y="518544"/>
                  </a:cubicBezTo>
                  <a:close/>
                </a:path>
              </a:pathLst>
            </a:custGeom>
            <a:solidFill>
              <a:srgbClr val="C25F4A"/>
            </a:solidFill>
          </p:spPr>
        </p:sp>
        <p:sp>
          <p:nvSpPr>
            <p:cNvPr name="TextBox 24" id="24"/>
            <p:cNvSpPr txBox="true"/>
            <p:nvPr/>
          </p:nvSpPr>
          <p:spPr>
            <a:xfrm>
              <a:off x="0" y="-38100"/>
              <a:ext cx="3843477"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What this adds</a:t>
              </a:r>
            </a:p>
          </p:txBody>
        </p:sp>
      </p:grpSp>
      <p:sp>
        <p:nvSpPr>
          <p:cNvPr name="TextBox 25" id="25"/>
          <p:cNvSpPr txBox="true"/>
          <p:nvPr/>
        </p:nvSpPr>
        <p:spPr>
          <a:xfrm rot="0">
            <a:off x="12125239" y="3000070"/>
            <a:ext cx="4987452" cy="2781300"/>
          </a:xfrm>
          <a:prstGeom prst="rect">
            <a:avLst/>
          </a:prstGeom>
        </p:spPr>
        <p:txBody>
          <a:bodyPr anchor="t" rtlCol="false" tIns="0" lIns="0" bIns="0" rIns="0">
            <a:spAutoFit/>
          </a:bodyPr>
          <a:lstStyle/>
          <a:p>
            <a:pPr algn="l">
              <a:lnSpc>
                <a:spcPts val="2431"/>
              </a:lnSpc>
            </a:pPr>
            <a:r>
              <a:rPr lang="en-US" sz="2026">
                <a:solidFill>
                  <a:srgbClr val="3D2A26"/>
                </a:solidFill>
                <a:latin typeface="Consolas"/>
                <a:ea typeface="Consolas"/>
                <a:cs typeface="Consolas"/>
                <a:sym typeface="Consolas"/>
              </a:rPr>
              <a:t>• Instead of only asking which ward has the most requests, this asks what types of requests appear in each ward.</a:t>
            </a:r>
          </a:p>
          <a:p>
            <a:pPr algn="l">
              <a:lnSpc>
                <a:spcPts val="2431"/>
              </a:lnSpc>
            </a:pPr>
            <a:r>
              <a:rPr lang="en-US" sz="2026">
                <a:solidFill>
                  <a:srgbClr val="3D2A26"/>
                </a:solidFill>
                <a:latin typeface="Consolas"/>
                <a:ea typeface="Consolas"/>
                <a:cs typeface="Consolas"/>
                <a:sym typeface="Consolas"/>
              </a:rPr>
              <a:t>• S0031 and S0261 appear strongly across several wards.</a:t>
            </a:r>
          </a:p>
          <a:p>
            <a:pPr algn="l">
              <a:lnSpc>
                <a:spcPts val="2431"/>
              </a:lnSpc>
            </a:pPr>
            <a:r>
              <a:rPr lang="en-US" sz="2026">
                <a:solidFill>
                  <a:srgbClr val="3D2A26"/>
                </a:solidFill>
                <a:latin typeface="Consolas"/>
                <a:ea typeface="Consolas"/>
                <a:cs typeface="Consolas"/>
                <a:sym typeface="Consolas"/>
              </a:rPr>
              <a:t>• The graph helps show that community needs are not exactly the same in every area.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016985"/>
            <a:chOff x="0" y="0"/>
            <a:chExt cx="3294418" cy="2689314"/>
          </a:xfrm>
        </p:grpSpPr>
        <p:sp>
          <p:nvSpPr>
            <p:cNvPr name="Freeform 13" id="13" descr="image30.png"/>
            <p:cNvSpPr/>
            <p:nvPr/>
          </p:nvSpPr>
          <p:spPr>
            <a:xfrm flipH="false" flipV="false" rot="0">
              <a:off x="0" y="0"/>
              <a:ext cx="3294380" cy="2689352"/>
            </a:xfrm>
            <a:custGeom>
              <a:avLst/>
              <a:gdLst/>
              <a:ahLst/>
              <a:cxnLst/>
              <a:rect r="r" b="b" t="t" l="l"/>
              <a:pathLst>
                <a:path h="2689352" w="3294380">
                  <a:moveTo>
                    <a:pt x="0" y="0"/>
                  </a:moveTo>
                  <a:lnTo>
                    <a:pt x="3294380" y="0"/>
                  </a:lnTo>
                  <a:lnTo>
                    <a:pt x="3294380" y="2689352"/>
                  </a:lnTo>
                  <a:lnTo>
                    <a:pt x="0" y="2689352"/>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11</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311 Service Requests by Month</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Requests peaked in July and dropped toward the end of the year.</a:t>
            </a:r>
          </a:p>
        </p:txBody>
      </p:sp>
      <p:grpSp>
        <p:nvGrpSpPr>
          <p:cNvPr name="Group 20" id="20"/>
          <p:cNvGrpSpPr/>
          <p:nvPr/>
        </p:nvGrpSpPr>
        <p:grpSpPr>
          <a:xfrm rot="0">
            <a:off x="369384" y="2230269"/>
            <a:ext cx="11339208" cy="5567470"/>
            <a:chOff x="0" y="0"/>
            <a:chExt cx="16960620" cy="8327542"/>
          </a:xfrm>
        </p:grpSpPr>
        <p:sp>
          <p:nvSpPr>
            <p:cNvPr name="Freeform 21" id="21" descr="311 by month dataset.png"/>
            <p:cNvSpPr/>
            <p:nvPr/>
          </p:nvSpPr>
          <p:spPr>
            <a:xfrm flipH="false" flipV="false" rot="0">
              <a:off x="0" y="0"/>
              <a:ext cx="16960604" cy="8327517"/>
            </a:xfrm>
            <a:custGeom>
              <a:avLst/>
              <a:gdLst/>
              <a:ahLst/>
              <a:cxnLst/>
              <a:rect r="r" b="b" t="t" l="l"/>
              <a:pathLst>
                <a:path h="8327517" w="16960604">
                  <a:moveTo>
                    <a:pt x="0" y="0"/>
                  </a:moveTo>
                  <a:lnTo>
                    <a:pt x="16960604" y="0"/>
                  </a:lnTo>
                  <a:lnTo>
                    <a:pt x="16960604" y="8327517"/>
                  </a:lnTo>
                  <a:lnTo>
                    <a:pt x="0" y="8327517"/>
                  </a:lnTo>
                  <a:lnTo>
                    <a:pt x="0" y="0"/>
                  </a:lnTo>
                  <a:close/>
                </a:path>
              </a:pathLst>
            </a:custGeom>
            <a:blipFill>
              <a:blip r:embed="rId5"/>
              <a:stretch>
                <a:fillRect l="0" t="-223" r="0" b="-223"/>
              </a:stretch>
            </a:blipFill>
          </p:spPr>
        </p:sp>
      </p:grpSp>
      <p:grpSp>
        <p:nvGrpSpPr>
          <p:cNvPr name="Group 22" id="22"/>
          <p:cNvGrpSpPr/>
          <p:nvPr/>
        </p:nvGrpSpPr>
        <p:grpSpPr>
          <a:xfrm rot="0">
            <a:off x="11999443" y="2390737"/>
            <a:ext cx="4140898" cy="1532820"/>
            <a:chOff x="0" y="0"/>
            <a:chExt cx="5521198" cy="2043760"/>
          </a:xfrm>
        </p:grpSpPr>
        <p:sp>
          <p:nvSpPr>
            <p:cNvPr name="Freeform 23" id="23"/>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24" id="24"/>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C25F4A"/>
            </a:solidFill>
          </p:spPr>
        </p:sp>
      </p:grpSp>
      <p:sp>
        <p:nvSpPr>
          <p:cNvPr name="TextBox 25" id="25"/>
          <p:cNvSpPr txBox="true"/>
          <p:nvPr/>
        </p:nvSpPr>
        <p:spPr>
          <a:xfrm rot="0">
            <a:off x="12303681" y="255661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PEAK MONTH</a:t>
            </a:r>
          </a:p>
        </p:txBody>
      </p:sp>
      <p:sp>
        <p:nvSpPr>
          <p:cNvPr name="TextBox 26" id="26"/>
          <p:cNvSpPr txBox="true"/>
          <p:nvPr/>
        </p:nvSpPr>
        <p:spPr>
          <a:xfrm rot="0">
            <a:off x="12303681" y="2875407"/>
            <a:ext cx="3532413"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July</a:t>
            </a:r>
          </a:p>
        </p:txBody>
      </p:sp>
      <p:sp>
        <p:nvSpPr>
          <p:cNvPr name="TextBox 27" id="27"/>
          <p:cNvSpPr txBox="true"/>
          <p:nvPr/>
        </p:nvSpPr>
        <p:spPr>
          <a:xfrm rot="0">
            <a:off x="12303681" y="3535413"/>
            <a:ext cx="3532413"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45,137 requests</a:t>
            </a:r>
          </a:p>
        </p:txBody>
      </p:sp>
      <p:grpSp>
        <p:nvGrpSpPr>
          <p:cNvPr name="Group 28" id="28"/>
          <p:cNvGrpSpPr/>
          <p:nvPr/>
        </p:nvGrpSpPr>
        <p:grpSpPr>
          <a:xfrm rot="0">
            <a:off x="11999443" y="4175208"/>
            <a:ext cx="4140898" cy="1532820"/>
            <a:chOff x="0" y="0"/>
            <a:chExt cx="5521198" cy="2043760"/>
          </a:xfrm>
        </p:grpSpPr>
        <p:sp>
          <p:nvSpPr>
            <p:cNvPr name="Freeform 29" id="29"/>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30" id="30"/>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4A9BC1"/>
            </a:solidFill>
          </p:spPr>
        </p:sp>
      </p:grpSp>
      <p:sp>
        <p:nvSpPr>
          <p:cNvPr name="TextBox 31" id="31"/>
          <p:cNvSpPr txBox="true"/>
          <p:nvPr/>
        </p:nvSpPr>
        <p:spPr>
          <a:xfrm rot="0">
            <a:off x="12303681" y="434108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LOWEST MONTH</a:t>
            </a:r>
          </a:p>
        </p:txBody>
      </p:sp>
      <p:sp>
        <p:nvSpPr>
          <p:cNvPr name="TextBox 32" id="32"/>
          <p:cNvSpPr txBox="true"/>
          <p:nvPr/>
        </p:nvSpPr>
        <p:spPr>
          <a:xfrm rot="0">
            <a:off x="12303681" y="4659878"/>
            <a:ext cx="3532413" cy="523875"/>
          </a:xfrm>
          <a:prstGeom prst="rect">
            <a:avLst/>
          </a:prstGeom>
        </p:spPr>
        <p:txBody>
          <a:bodyPr anchor="t" rtlCol="false" tIns="0" lIns="0" bIns="0" rIns="0">
            <a:spAutoFit/>
          </a:bodyPr>
          <a:lstStyle/>
          <a:p>
            <a:pPr algn="l">
              <a:lnSpc>
                <a:spcPts val="3602"/>
              </a:lnSpc>
            </a:pPr>
            <a:r>
              <a:rPr lang="en-US" sz="3002" b="true">
                <a:solidFill>
                  <a:srgbClr val="4A9BC1"/>
                </a:solidFill>
                <a:latin typeface="Consolas Bold"/>
                <a:ea typeface="Consolas Bold"/>
                <a:cs typeface="Consolas Bold"/>
                <a:sym typeface="Consolas Bold"/>
              </a:rPr>
              <a:t>December</a:t>
            </a:r>
          </a:p>
        </p:txBody>
      </p:sp>
      <p:sp>
        <p:nvSpPr>
          <p:cNvPr name="TextBox 33" id="33"/>
          <p:cNvSpPr txBox="true"/>
          <p:nvPr/>
        </p:nvSpPr>
        <p:spPr>
          <a:xfrm rot="0">
            <a:off x="12303681" y="5319884"/>
            <a:ext cx="3532413"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26,378 requests</a:t>
            </a:r>
          </a:p>
        </p:txBody>
      </p:sp>
      <p:sp>
        <p:nvSpPr>
          <p:cNvPr name="TextBox 34" id="34"/>
          <p:cNvSpPr txBox="true"/>
          <p:nvPr/>
        </p:nvSpPr>
        <p:spPr>
          <a:xfrm rot="0">
            <a:off x="12056602" y="6353594"/>
            <a:ext cx="4850178" cy="1266825"/>
          </a:xfrm>
          <a:prstGeom prst="rect">
            <a:avLst/>
          </a:prstGeom>
        </p:spPr>
        <p:txBody>
          <a:bodyPr anchor="t" rtlCol="false" tIns="0" lIns="0" bIns="0" rIns="0">
            <a:spAutoFit/>
          </a:bodyPr>
          <a:lstStyle/>
          <a:p>
            <a:pPr algn="l">
              <a:lnSpc>
                <a:spcPts val="2413"/>
              </a:lnSpc>
            </a:pPr>
            <a:r>
              <a:rPr lang="en-US" sz="2011" b="true">
                <a:solidFill>
                  <a:srgbClr val="3D2A26"/>
                </a:solidFill>
                <a:latin typeface="Consolas Bold"/>
                <a:ea typeface="Consolas Bold"/>
                <a:cs typeface="Consolas Bold"/>
                <a:sym typeface="Consolas Bold"/>
              </a:rPr>
              <a:t>Possible reason: warmer months can make outdoor issues, yard waste, sanitation, and public space problems more visible.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89317"/>
            <a:chOff x="0" y="0"/>
            <a:chExt cx="3294418" cy="3585756"/>
          </a:xfrm>
        </p:grpSpPr>
        <p:sp>
          <p:nvSpPr>
            <p:cNvPr name="Freeform 13" id="13" descr="image16.png"/>
            <p:cNvSpPr/>
            <p:nvPr/>
          </p:nvSpPr>
          <p:spPr>
            <a:xfrm flipH="false" flipV="false" rot="0">
              <a:off x="0" y="0"/>
              <a:ext cx="3294380" cy="3585718"/>
            </a:xfrm>
            <a:custGeom>
              <a:avLst/>
              <a:gdLst/>
              <a:ahLst/>
              <a:cxnLst/>
              <a:rect r="r" b="b" t="t" l="l"/>
              <a:pathLst>
                <a:path h="3585718" w="3294380">
                  <a:moveTo>
                    <a:pt x="0" y="0"/>
                  </a:moveTo>
                  <a:lnTo>
                    <a:pt x="3294380" y="0"/>
                  </a:lnTo>
                  <a:lnTo>
                    <a:pt x="3294380" y="3585718"/>
                  </a:lnTo>
                  <a:lnTo>
                    <a:pt x="0" y="358571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12</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When Residents Submitted Requests</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Day of week and hour of day show the timing pattern.</a:t>
            </a:r>
          </a:p>
        </p:txBody>
      </p:sp>
      <p:grpSp>
        <p:nvGrpSpPr>
          <p:cNvPr name="Group 20" id="20"/>
          <p:cNvGrpSpPr/>
          <p:nvPr/>
        </p:nvGrpSpPr>
        <p:grpSpPr>
          <a:xfrm rot="0">
            <a:off x="388986" y="2698738"/>
            <a:ext cx="8544557" cy="4211230"/>
            <a:chOff x="0" y="0"/>
            <a:chExt cx="13740051" cy="6771856"/>
          </a:xfrm>
        </p:grpSpPr>
        <p:sp>
          <p:nvSpPr>
            <p:cNvPr name="Freeform 21" id="21" descr="311 by week dataset.png"/>
            <p:cNvSpPr/>
            <p:nvPr/>
          </p:nvSpPr>
          <p:spPr>
            <a:xfrm flipH="false" flipV="false" rot="0">
              <a:off x="0" y="0"/>
              <a:ext cx="13739964" cy="6771894"/>
            </a:xfrm>
            <a:custGeom>
              <a:avLst/>
              <a:gdLst/>
              <a:ahLst/>
              <a:cxnLst/>
              <a:rect r="r" b="b" t="t" l="l"/>
              <a:pathLst>
                <a:path h="6771894" w="13739964">
                  <a:moveTo>
                    <a:pt x="0" y="0"/>
                  </a:moveTo>
                  <a:lnTo>
                    <a:pt x="13739964" y="0"/>
                  </a:lnTo>
                  <a:lnTo>
                    <a:pt x="13739964" y="6771894"/>
                  </a:lnTo>
                  <a:lnTo>
                    <a:pt x="0" y="6771894"/>
                  </a:lnTo>
                  <a:lnTo>
                    <a:pt x="0" y="0"/>
                  </a:lnTo>
                  <a:close/>
                </a:path>
              </a:pathLst>
            </a:custGeom>
            <a:blipFill>
              <a:blip r:embed="rId5"/>
              <a:stretch>
                <a:fillRect l="0" t="-58" r="0" b="-58"/>
              </a:stretch>
            </a:blipFill>
          </p:spPr>
        </p:sp>
      </p:grpSp>
      <p:grpSp>
        <p:nvGrpSpPr>
          <p:cNvPr name="Group 22" id="22"/>
          <p:cNvGrpSpPr/>
          <p:nvPr/>
        </p:nvGrpSpPr>
        <p:grpSpPr>
          <a:xfrm rot="0">
            <a:off x="9337953" y="2660197"/>
            <a:ext cx="8549374" cy="4207347"/>
            <a:chOff x="0" y="0"/>
            <a:chExt cx="13760482" cy="6771856"/>
          </a:xfrm>
        </p:grpSpPr>
        <p:sp>
          <p:nvSpPr>
            <p:cNvPr name="Freeform 23" id="23" descr="311 by hour data set.png"/>
            <p:cNvSpPr/>
            <p:nvPr/>
          </p:nvSpPr>
          <p:spPr>
            <a:xfrm flipH="false" flipV="false" rot="0">
              <a:off x="0" y="0"/>
              <a:ext cx="13760397" cy="6771894"/>
            </a:xfrm>
            <a:custGeom>
              <a:avLst/>
              <a:gdLst/>
              <a:ahLst/>
              <a:cxnLst/>
              <a:rect r="r" b="b" t="t" l="l"/>
              <a:pathLst>
                <a:path h="6771894" w="13760397">
                  <a:moveTo>
                    <a:pt x="0" y="0"/>
                  </a:moveTo>
                  <a:lnTo>
                    <a:pt x="13760397" y="0"/>
                  </a:lnTo>
                  <a:lnTo>
                    <a:pt x="13760397" y="6771894"/>
                  </a:lnTo>
                  <a:lnTo>
                    <a:pt x="0" y="6771894"/>
                  </a:lnTo>
                  <a:lnTo>
                    <a:pt x="0" y="0"/>
                  </a:lnTo>
                  <a:close/>
                </a:path>
              </a:pathLst>
            </a:custGeom>
            <a:blipFill>
              <a:blip r:embed="rId6"/>
              <a:stretch>
                <a:fillRect l="0" t="-107" r="0" b="-107"/>
              </a:stretch>
            </a:blipFill>
          </p:spPr>
        </p:sp>
      </p:grpSp>
      <p:grpSp>
        <p:nvGrpSpPr>
          <p:cNvPr name="Group 24" id="24"/>
          <p:cNvGrpSpPr/>
          <p:nvPr/>
        </p:nvGrpSpPr>
        <p:grpSpPr>
          <a:xfrm rot="0">
            <a:off x="1361237" y="7606894"/>
            <a:ext cx="3866359" cy="1464183"/>
            <a:chOff x="0" y="0"/>
            <a:chExt cx="5155146" cy="1952244"/>
          </a:xfrm>
        </p:grpSpPr>
        <p:sp>
          <p:nvSpPr>
            <p:cNvPr name="Freeform 25" id="25"/>
            <p:cNvSpPr/>
            <p:nvPr/>
          </p:nvSpPr>
          <p:spPr>
            <a:xfrm flipH="false" flipV="false" rot="0">
              <a:off x="15240" y="15240"/>
              <a:ext cx="5124704" cy="1921764"/>
            </a:xfrm>
            <a:custGeom>
              <a:avLst/>
              <a:gdLst/>
              <a:ahLst/>
              <a:cxnLst/>
              <a:rect r="r" b="b" t="t" l="l"/>
              <a:pathLst>
                <a:path h="1921764" w="5124704">
                  <a:moveTo>
                    <a:pt x="0" y="320294"/>
                  </a:moveTo>
                  <a:cubicBezTo>
                    <a:pt x="0" y="143383"/>
                    <a:pt x="144780" y="0"/>
                    <a:pt x="323469" y="0"/>
                  </a:cubicBezTo>
                  <a:lnTo>
                    <a:pt x="4801235" y="0"/>
                  </a:lnTo>
                  <a:cubicBezTo>
                    <a:pt x="4979924" y="0"/>
                    <a:pt x="5124704" y="143383"/>
                    <a:pt x="5124704" y="320294"/>
                  </a:cubicBezTo>
                  <a:lnTo>
                    <a:pt x="5124704" y="1601470"/>
                  </a:lnTo>
                  <a:cubicBezTo>
                    <a:pt x="5124704" y="1778381"/>
                    <a:pt x="4979924" y="1921764"/>
                    <a:pt x="4801235" y="1921764"/>
                  </a:cubicBezTo>
                  <a:lnTo>
                    <a:pt x="323469" y="1921764"/>
                  </a:lnTo>
                  <a:cubicBezTo>
                    <a:pt x="144780" y="1921764"/>
                    <a:pt x="0" y="1778381"/>
                    <a:pt x="0" y="1601470"/>
                  </a:cubicBezTo>
                  <a:close/>
                </a:path>
              </a:pathLst>
            </a:custGeom>
            <a:solidFill>
              <a:srgbClr val="FFFAEE"/>
            </a:solidFill>
          </p:spPr>
        </p:sp>
        <p:sp>
          <p:nvSpPr>
            <p:cNvPr name="Freeform 26" id="26"/>
            <p:cNvSpPr/>
            <p:nvPr/>
          </p:nvSpPr>
          <p:spPr>
            <a:xfrm flipH="false" flipV="false" rot="0">
              <a:off x="0" y="0"/>
              <a:ext cx="5155184" cy="1952244"/>
            </a:xfrm>
            <a:custGeom>
              <a:avLst/>
              <a:gdLst/>
              <a:ahLst/>
              <a:cxnLst/>
              <a:rect r="r" b="b" t="t" l="l"/>
              <a:pathLst>
                <a:path h="1952244" w="5155184">
                  <a:moveTo>
                    <a:pt x="0" y="335534"/>
                  </a:moveTo>
                  <a:cubicBezTo>
                    <a:pt x="0" y="150114"/>
                    <a:pt x="151765" y="0"/>
                    <a:pt x="338709" y="0"/>
                  </a:cubicBezTo>
                  <a:lnTo>
                    <a:pt x="4816475" y="0"/>
                  </a:lnTo>
                  <a:lnTo>
                    <a:pt x="4816475" y="15240"/>
                  </a:lnTo>
                  <a:lnTo>
                    <a:pt x="4816475" y="0"/>
                  </a:lnTo>
                  <a:cubicBezTo>
                    <a:pt x="5003419" y="0"/>
                    <a:pt x="5155184" y="150114"/>
                    <a:pt x="5155184" y="335534"/>
                  </a:cubicBezTo>
                  <a:lnTo>
                    <a:pt x="5139944" y="335534"/>
                  </a:lnTo>
                  <a:lnTo>
                    <a:pt x="5155184" y="335534"/>
                  </a:lnTo>
                  <a:lnTo>
                    <a:pt x="5155184" y="1616710"/>
                  </a:lnTo>
                  <a:lnTo>
                    <a:pt x="5139944" y="1616710"/>
                  </a:lnTo>
                  <a:lnTo>
                    <a:pt x="5155184" y="1616710"/>
                  </a:lnTo>
                  <a:cubicBezTo>
                    <a:pt x="5155184" y="1802130"/>
                    <a:pt x="5003419" y="1952244"/>
                    <a:pt x="4816475" y="1952244"/>
                  </a:cubicBezTo>
                  <a:lnTo>
                    <a:pt x="4816475" y="1937004"/>
                  </a:lnTo>
                  <a:lnTo>
                    <a:pt x="4816475" y="1952244"/>
                  </a:lnTo>
                  <a:lnTo>
                    <a:pt x="338709" y="1952244"/>
                  </a:lnTo>
                  <a:lnTo>
                    <a:pt x="338709" y="1937004"/>
                  </a:lnTo>
                  <a:lnTo>
                    <a:pt x="338709" y="1952244"/>
                  </a:lnTo>
                  <a:cubicBezTo>
                    <a:pt x="151765" y="1952244"/>
                    <a:pt x="0" y="1802130"/>
                    <a:pt x="0" y="1616710"/>
                  </a:cubicBezTo>
                  <a:lnTo>
                    <a:pt x="0" y="335534"/>
                  </a:lnTo>
                  <a:lnTo>
                    <a:pt x="15240" y="335534"/>
                  </a:lnTo>
                  <a:lnTo>
                    <a:pt x="0" y="335534"/>
                  </a:lnTo>
                  <a:moveTo>
                    <a:pt x="30480" y="335534"/>
                  </a:moveTo>
                  <a:lnTo>
                    <a:pt x="30480" y="1616710"/>
                  </a:lnTo>
                  <a:lnTo>
                    <a:pt x="15240" y="1616710"/>
                  </a:lnTo>
                  <a:lnTo>
                    <a:pt x="30480" y="1616710"/>
                  </a:lnTo>
                  <a:cubicBezTo>
                    <a:pt x="30480" y="1784985"/>
                    <a:pt x="168275" y="1921764"/>
                    <a:pt x="338709" y="1921764"/>
                  </a:cubicBezTo>
                  <a:lnTo>
                    <a:pt x="4816475" y="1921764"/>
                  </a:lnTo>
                  <a:cubicBezTo>
                    <a:pt x="4986782" y="1921764"/>
                    <a:pt x="5124704" y="1785112"/>
                    <a:pt x="5124704" y="1616710"/>
                  </a:cubicBezTo>
                  <a:lnTo>
                    <a:pt x="5124704" y="335534"/>
                  </a:lnTo>
                  <a:cubicBezTo>
                    <a:pt x="5124704" y="167259"/>
                    <a:pt x="4986909" y="30480"/>
                    <a:pt x="4816475" y="30480"/>
                  </a:cubicBezTo>
                  <a:lnTo>
                    <a:pt x="338709" y="30480"/>
                  </a:lnTo>
                  <a:lnTo>
                    <a:pt x="338709" y="15240"/>
                  </a:lnTo>
                  <a:lnTo>
                    <a:pt x="338709" y="30480"/>
                  </a:lnTo>
                  <a:cubicBezTo>
                    <a:pt x="168402" y="30480"/>
                    <a:pt x="30480" y="167259"/>
                    <a:pt x="30480" y="335534"/>
                  </a:cubicBezTo>
                  <a:close/>
                </a:path>
              </a:pathLst>
            </a:custGeom>
            <a:solidFill>
              <a:srgbClr val="7B8E6F"/>
            </a:solidFill>
          </p:spPr>
        </p:sp>
      </p:grpSp>
      <p:sp>
        <p:nvSpPr>
          <p:cNvPr name="TextBox 27" id="27"/>
          <p:cNvSpPr txBox="true"/>
          <p:nvPr/>
        </p:nvSpPr>
        <p:spPr>
          <a:xfrm rot="0">
            <a:off x="1665475" y="7772762"/>
            <a:ext cx="325788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BUSIEST DAY</a:t>
            </a:r>
          </a:p>
        </p:txBody>
      </p:sp>
      <p:sp>
        <p:nvSpPr>
          <p:cNvPr name="TextBox 28" id="28"/>
          <p:cNvSpPr txBox="true"/>
          <p:nvPr/>
        </p:nvSpPr>
        <p:spPr>
          <a:xfrm rot="0">
            <a:off x="1665475" y="8091564"/>
            <a:ext cx="3257883" cy="523875"/>
          </a:xfrm>
          <a:prstGeom prst="rect">
            <a:avLst/>
          </a:prstGeom>
        </p:spPr>
        <p:txBody>
          <a:bodyPr anchor="t" rtlCol="false" tIns="0" lIns="0" bIns="0" rIns="0">
            <a:spAutoFit/>
          </a:bodyPr>
          <a:lstStyle/>
          <a:p>
            <a:pPr algn="l">
              <a:lnSpc>
                <a:spcPts val="3602"/>
              </a:lnSpc>
            </a:pPr>
            <a:r>
              <a:rPr lang="en-US" sz="3002" b="true">
                <a:solidFill>
                  <a:srgbClr val="7B8E6F"/>
                </a:solidFill>
                <a:latin typeface="Consolas Bold"/>
                <a:ea typeface="Consolas Bold"/>
                <a:cs typeface="Consolas Bold"/>
                <a:sym typeface="Consolas Bold"/>
              </a:rPr>
              <a:t>Tuesday</a:t>
            </a:r>
          </a:p>
        </p:txBody>
      </p:sp>
      <p:sp>
        <p:nvSpPr>
          <p:cNvPr name="TextBox 29" id="29"/>
          <p:cNvSpPr txBox="true"/>
          <p:nvPr/>
        </p:nvSpPr>
        <p:spPr>
          <a:xfrm rot="0">
            <a:off x="1665475" y="8751560"/>
            <a:ext cx="1493341"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79,260 requests</a:t>
            </a:r>
          </a:p>
        </p:txBody>
      </p:sp>
      <p:grpSp>
        <p:nvGrpSpPr>
          <p:cNvPr name="Group 30" id="30"/>
          <p:cNvGrpSpPr/>
          <p:nvPr/>
        </p:nvGrpSpPr>
        <p:grpSpPr>
          <a:xfrm rot="0">
            <a:off x="5616521" y="7606894"/>
            <a:ext cx="3866359" cy="1464183"/>
            <a:chOff x="0" y="0"/>
            <a:chExt cx="5155146" cy="1952244"/>
          </a:xfrm>
        </p:grpSpPr>
        <p:sp>
          <p:nvSpPr>
            <p:cNvPr name="Freeform 31" id="31"/>
            <p:cNvSpPr/>
            <p:nvPr/>
          </p:nvSpPr>
          <p:spPr>
            <a:xfrm flipH="false" flipV="false" rot="0">
              <a:off x="15240" y="15240"/>
              <a:ext cx="5124704" cy="1921764"/>
            </a:xfrm>
            <a:custGeom>
              <a:avLst/>
              <a:gdLst/>
              <a:ahLst/>
              <a:cxnLst/>
              <a:rect r="r" b="b" t="t" l="l"/>
              <a:pathLst>
                <a:path h="1921764" w="5124704">
                  <a:moveTo>
                    <a:pt x="0" y="320294"/>
                  </a:moveTo>
                  <a:cubicBezTo>
                    <a:pt x="0" y="143383"/>
                    <a:pt x="144780" y="0"/>
                    <a:pt x="323469" y="0"/>
                  </a:cubicBezTo>
                  <a:lnTo>
                    <a:pt x="4801235" y="0"/>
                  </a:lnTo>
                  <a:cubicBezTo>
                    <a:pt x="4979924" y="0"/>
                    <a:pt x="5124704" y="143383"/>
                    <a:pt x="5124704" y="320294"/>
                  </a:cubicBezTo>
                  <a:lnTo>
                    <a:pt x="5124704" y="1601470"/>
                  </a:lnTo>
                  <a:cubicBezTo>
                    <a:pt x="5124704" y="1778381"/>
                    <a:pt x="4979924" y="1921764"/>
                    <a:pt x="4801235" y="1921764"/>
                  </a:cubicBezTo>
                  <a:lnTo>
                    <a:pt x="323469" y="1921764"/>
                  </a:lnTo>
                  <a:cubicBezTo>
                    <a:pt x="144780" y="1921764"/>
                    <a:pt x="0" y="1778381"/>
                    <a:pt x="0" y="1601470"/>
                  </a:cubicBezTo>
                  <a:close/>
                </a:path>
              </a:pathLst>
            </a:custGeom>
            <a:solidFill>
              <a:srgbClr val="FFFAEE"/>
            </a:solidFill>
          </p:spPr>
        </p:sp>
        <p:sp>
          <p:nvSpPr>
            <p:cNvPr name="Freeform 32" id="32"/>
            <p:cNvSpPr/>
            <p:nvPr/>
          </p:nvSpPr>
          <p:spPr>
            <a:xfrm flipH="false" flipV="false" rot="0">
              <a:off x="0" y="0"/>
              <a:ext cx="5155184" cy="1952244"/>
            </a:xfrm>
            <a:custGeom>
              <a:avLst/>
              <a:gdLst/>
              <a:ahLst/>
              <a:cxnLst/>
              <a:rect r="r" b="b" t="t" l="l"/>
              <a:pathLst>
                <a:path h="1952244" w="5155184">
                  <a:moveTo>
                    <a:pt x="0" y="335534"/>
                  </a:moveTo>
                  <a:cubicBezTo>
                    <a:pt x="0" y="150114"/>
                    <a:pt x="151765" y="0"/>
                    <a:pt x="338709" y="0"/>
                  </a:cubicBezTo>
                  <a:lnTo>
                    <a:pt x="4816475" y="0"/>
                  </a:lnTo>
                  <a:lnTo>
                    <a:pt x="4816475" y="15240"/>
                  </a:lnTo>
                  <a:lnTo>
                    <a:pt x="4816475" y="0"/>
                  </a:lnTo>
                  <a:cubicBezTo>
                    <a:pt x="5003419" y="0"/>
                    <a:pt x="5155184" y="150114"/>
                    <a:pt x="5155184" y="335534"/>
                  </a:cubicBezTo>
                  <a:lnTo>
                    <a:pt x="5139944" y="335534"/>
                  </a:lnTo>
                  <a:lnTo>
                    <a:pt x="5155184" y="335534"/>
                  </a:lnTo>
                  <a:lnTo>
                    <a:pt x="5155184" y="1616710"/>
                  </a:lnTo>
                  <a:lnTo>
                    <a:pt x="5139944" y="1616710"/>
                  </a:lnTo>
                  <a:lnTo>
                    <a:pt x="5155184" y="1616710"/>
                  </a:lnTo>
                  <a:cubicBezTo>
                    <a:pt x="5155184" y="1802130"/>
                    <a:pt x="5003419" y="1952244"/>
                    <a:pt x="4816475" y="1952244"/>
                  </a:cubicBezTo>
                  <a:lnTo>
                    <a:pt x="4816475" y="1937004"/>
                  </a:lnTo>
                  <a:lnTo>
                    <a:pt x="4816475" y="1952244"/>
                  </a:lnTo>
                  <a:lnTo>
                    <a:pt x="338709" y="1952244"/>
                  </a:lnTo>
                  <a:lnTo>
                    <a:pt x="338709" y="1937004"/>
                  </a:lnTo>
                  <a:lnTo>
                    <a:pt x="338709" y="1952244"/>
                  </a:lnTo>
                  <a:cubicBezTo>
                    <a:pt x="151765" y="1952244"/>
                    <a:pt x="0" y="1802130"/>
                    <a:pt x="0" y="1616710"/>
                  </a:cubicBezTo>
                  <a:lnTo>
                    <a:pt x="0" y="335534"/>
                  </a:lnTo>
                  <a:lnTo>
                    <a:pt x="15240" y="335534"/>
                  </a:lnTo>
                  <a:lnTo>
                    <a:pt x="0" y="335534"/>
                  </a:lnTo>
                  <a:moveTo>
                    <a:pt x="30480" y="335534"/>
                  </a:moveTo>
                  <a:lnTo>
                    <a:pt x="30480" y="1616710"/>
                  </a:lnTo>
                  <a:lnTo>
                    <a:pt x="15240" y="1616710"/>
                  </a:lnTo>
                  <a:lnTo>
                    <a:pt x="30480" y="1616710"/>
                  </a:lnTo>
                  <a:cubicBezTo>
                    <a:pt x="30480" y="1784985"/>
                    <a:pt x="168275" y="1921764"/>
                    <a:pt x="338709" y="1921764"/>
                  </a:cubicBezTo>
                  <a:lnTo>
                    <a:pt x="4816475" y="1921764"/>
                  </a:lnTo>
                  <a:cubicBezTo>
                    <a:pt x="4986782" y="1921764"/>
                    <a:pt x="5124704" y="1785112"/>
                    <a:pt x="5124704" y="1616710"/>
                  </a:cubicBezTo>
                  <a:lnTo>
                    <a:pt x="5124704" y="335534"/>
                  </a:lnTo>
                  <a:cubicBezTo>
                    <a:pt x="5124704" y="167259"/>
                    <a:pt x="4986909" y="30480"/>
                    <a:pt x="4816475" y="30480"/>
                  </a:cubicBezTo>
                  <a:lnTo>
                    <a:pt x="338709" y="30480"/>
                  </a:lnTo>
                  <a:lnTo>
                    <a:pt x="338709" y="15240"/>
                  </a:lnTo>
                  <a:lnTo>
                    <a:pt x="338709" y="30480"/>
                  </a:lnTo>
                  <a:cubicBezTo>
                    <a:pt x="168402" y="30480"/>
                    <a:pt x="30480" y="167259"/>
                    <a:pt x="30480" y="335534"/>
                  </a:cubicBezTo>
                  <a:close/>
                </a:path>
              </a:pathLst>
            </a:custGeom>
            <a:solidFill>
              <a:srgbClr val="C25F4A"/>
            </a:solidFill>
          </p:spPr>
        </p:sp>
      </p:grpSp>
      <p:sp>
        <p:nvSpPr>
          <p:cNvPr name="TextBox 33" id="33"/>
          <p:cNvSpPr txBox="true"/>
          <p:nvPr/>
        </p:nvSpPr>
        <p:spPr>
          <a:xfrm rot="0">
            <a:off x="5920759" y="7772762"/>
            <a:ext cx="325788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BUSIEST HOUR</a:t>
            </a:r>
          </a:p>
        </p:txBody>
      </p:sp>
      <p:sp>
        <p:nvSpPr>
          <p:cNvPr name="TextBox 34" id="34"/>
          <p:cNvSpPr txBox="true"/>
          <p:nvPr/>
        </p:nvSpPr>
        <p:spPr>
          <a:xfrm rot="0">
            <a:off x="5920759" y="8091564"/>
            <a:ext cx="3257883"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2 PM</a:t>
            </a:r>
          </a:p>
        </p:txBody>
      </p:sp>
      <p:sp>
        <p:nvSpPr>
          <p:cNvPr name="TextBox 35" id="35"/>
          <p:cNvSpPr txBox="true"/>
          <p:nvPr/>
        </p:nvSpPr>
        <p:spPr>
          <a:xfrm rot="0">
            <a:off x="5920759" y="8751560"/>
            <a:ext cx="1493341"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39,933 requests</a:t>
            </a:r>
          </a:p>
        </p:txBody>
      </p:sp>
      <p:sp>
        <p:nvSpPr>
          <p:cNvPr name="TextBox 36" id="36"/>
          <p:cNvSpPr txBox="true"/>
          <p:nvPr/>
        </p:nvSpPr>
        <p:spPr>
          <a:xfrm rot="0">
            <a:off x="10203494" y="7822349"/>
            <a:ext cx="6634658" cy="733425"/>
          </a:xfrm>
          <a:prstGeom prst="rect">
            <a:avLst/>
          </a:prstGeom>
        </p:spPr>
        <p:txBody>
          <a:bodyPr anchor="t" rtlCol="false" tIns="0" lIns="0" bIns="0" rIns="0">
            <a:spAutoFit/>
          </a:bodyPr>
          <a:lstStyle/>
          <a:p>
            <a:pPr algn="l">
              <a:lnSpc>
                <a:spcPts val="2761"/>
              </a:lnSpc>
            </a:pPr>
            <a:r>
              <a:rPr lang="en-US" sz="2301" b="true">
                <a:solidFill>
                  <a:srgbClr val="6F4336"/>
                </a:solidFill>
                <a:latin typeface="Consolas Bold"/>
                <a:ea typeface="Consolas Bold"/>
                <a:cs typeface="Consolas Bold"/>
                <a:sym typeface="Consolas Bold"/>
              </a:rPr>
              <a:t>The timing pattern points toward weekday and daytime reporting behavior.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671143"/>
            <a:chOff x="0" y="0"/>
            <a:chExt cx="3294418" cy="3561524"/>
          </a:xfrm>
        </p:grpSpPr>
        <p:sp>
          <p:nvSpPr>
            <p:cNvPr name="Freeform 13" id="13" descr="image18.png"/>
            <p:cNvSpPr/>
            <p:nvPr/>
          </p:nvSpPr>
          <p:spPr>
            <a:xfrm flipH="false" flipV="false" rot="0">
              <a:off x="0" y="0"/>
              <a:ext cx="3294380" cy="3561588"/>
            </a:xfrm>
            <a:custGeom>
              <a:avLst/>
              <a:gdLst/>
              <a:ahLst/>
              <a:cxnLst/>
              <a:rect r="r" b="b" t="t" l="l"/>
              <a:pathLst>
                <a:path h="3561588" w="3294380">
                  <a:moveTo>
                    <a:pt x="0" y="0"/>
                  </a:moveTo>
                  <a:lnTo>
                    <a:pt x="3294380" y="0"/>
                  </a:lnTo>
                  <a:lnTo>
                    <a:pt x="3294380" y="3561588"/>
                  </a:lnTo>
                  <a:lnTo>
                    <a:pt x="0" y="3561588"/>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13</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Distribution of Response Times</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Most requests closed quickly, but some took much longer.</a:t>
            </a:r>
          </a:p>
        </p:txBody>
      </p:sp>
      <p:grpSp>
        <p:nvGrpSpPr>
          <p:cNvPr name="Group 20" id="20"/>
          <p:cNvGrpSpPr/>
          <p:nvPr/>
        </p:nvGrpSpPr>
        <p:grpSpPr>
          <a:xfrm rot="0">
            <a:off x="118783" y="2433709"/>
            <a:ext cx="11709964" cy="5802330"/>
            <a:chOff x="0" y="0"/>
            <a:chExt cx="16806218" cy="8327542"/>
          </a:xfrm>
        </p:grpSpPr>
        <p:sp>
          <p:nvSpPr>
            <p:cNvPr name="Freeform 21" id="21" descr="distribution of 311 dataset.png"/>
            <p:cNvSpPr/>
            <p:nvPr/>
          </p:nvSpPr>
          <p:spPr>
            <a:xfrm flipH="false" flipV="false" rot="0">
              <a:off x="0" y="0"/>
              <a:ext cx="16806202" cy="8327517"/>
            </a:xfrm>
            <a:custGeom>
              <a:avLst/>
              <a:gdLst/>
              <a:ahLst/>
              <a:cxnLst/>
              <a:rect r="r" b="b" t="t" l="l"/>
              <a:pathLst>
                <a:path h="8327517" w="16806202">
                  <a:moveTo>
                    <a:pt x="0" y="0"/>
                  </a:moveTo>
                  <a:lnTo>
                    <a:pt x="16806202" y="0"/>
                  </a:lnTo>
                  <a:lnTo>
                    <a:pt x="16806202" y="8327517"/>
                  </a:lnTo>
                  <a:lnTo>
                    <a:pt x="0" y="8327517"/>
                  </a:lnTo>
                  <a:lnTo>
                    <a:pt x="0" y="0"/>
                  </a:lnTo>
                  <a:close/>
                </a:path>
              </a:pathLst>
            </a:custGeom>
            <a:blipFill>
              <a:blip r:embed="rId5"/>
              <a:stretch>
                <a:fillRect l="-209" t="0" r="-209" b="0"/>
              </a:stretch>
            </a:blipFill>
          </p:spPr>
        </p:sp>
      </p:grpSp>
      <p:grpSp>
        <p:nvGrpSpPr>
          <p:cNvPr name="Group 22" id="22"/>
          <p:cNvGrpSpPr/>
          <p:nvPr/>
        </p:nvGrpSpPr>
        <p:grpSpPr>
          <a:xfrm rot="0">
            <a:off x="11999443" y="2390737"/>
            <a:ext cx="4140898" cy="1532820"/>
            <a:chOff x="0" y="0"/>
            <a:chExt cx="5521198" cy="2043760"/>
          </a:xfrm>
        </p:grpSpPr>
        <p:sp>
          <p:nvSpPr>
            <p:cNvPr name="Freeform 23" id="23"/>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24" id="24"/>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C25F4A"/>
            </a:solidFill>
          </p:spPr>
        </p:sp>
      </p:grpSp>
      <p:sp>
        <p:nvSpPr>
          <p:cNvPr name="TextBox 25" id="25"/>
          <p:cNvSpPr txBox="true"/>
          <p:nvPr/>
        </p:nvSpPr>
        <p:spPr>
          <a:xfrm rot="0">
            <a:off x="12303681" y="255661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AVERAGE</a:t>
            </a:r>
          </a:p>
        </p:txBody>
      </p:sp>
      <p:sp>
        <p:nvSpPr>
          <p:cNvPr name="TextBox 26" id="26"/>
          <p:cNvSpPr txBox="true"/>
          <p:nvPr/>
        </p:nvSpPr>
        <p:spPr>
          <a:xfrm rot="0">
            <a:off x="12303681" y="2875407"/>
            <a:ext cx="3532413" cy="523875"/>
          </a:xfrm>
          <a:prstGeom prst="rect">
            <a:avLst/>
          </a:prstGeom>
        </p:spPr>
        <p:txBody>
          <a:bodyPr anchor="t" rtlCol="false" tIns="0" lIns="0" bIns="0" rIns="0">
            <a:spAutoFit/>
          </a:bodyPr>
          <a:lstStyle/>
          <a:p>
            <a:pPr algn="l">
              <a:lnSpc>
                <a:spcPts val="3602"/>
              </a:lnSpc>
            </a:pPr>
            <a:r>
              <a:rPr lang="en-US" sz="3002" b="true">
                <a:solidFill>
                  <a:srgbClr val="C25F4A"/>
                </a:solidFill>
                <a:latin typeface="Consolas Bold"/>
                <a:ea typeface="Consolas Bold"/>
                <a:cs typeface="Consolas Bold"/>
                <a:sym typeface="Consolas Bold"/>
              </a:rPr>
              <a:t>9.32 days</a:t>
            </a:r>
          </a:p>
        </p:txBody>
      </p:sp>
      <p:sp>
        <p:nvSpPr>
          <p:cNvPr name="TextBox 27" id="27"/>
          <p:cNvSpPr txBox="true"/>
          <p:nvPr/>
        </p:nvSpPr>
        <p:spPr>
          <a:xfrm rot="0">
            <a:off x="12303681" y="3535413"/>
            <a:ext cx="3532413" cy="24765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Pulled upward by long cases</a:t>
            </a:r>
          </a:p>
        </p:txBody>
      </p:sp>
      <p:grpSp>
        <p:nvGrpSpPr>
          <p:cNvPr name="Group 28" id="28"/>
          <p:cNvGrpSpPr/>
          <p:nvPr/>
        </p:nvGrpSpPr>
        <p:grpSpPr>
          <a:xfrm rot="0">
            <a:off x="11999443" y="4175208"/>
            <a:ext cx="4140898" cy="1532820"/>
            <a:chOff x="0" y="0"/>
            <a:chExt cx="5521198" cy="2043760"/>
          </a:xfrm>
        </p:grpSpPr>
        <p:sp>
          <p:nvSpPr>
            <p:cNvPr name="Freeform 29" id="29"/>
            <p:cNvSpPr/>
            <p:nvPr/>
          </p:nvSpPr>
          <p:spPr>
            <a:xfrm flipH="false" flipV="false" rot="0">
              <a:off x="15240" y="15240"/>
              <a:ext cx="5490718" cy="2013204"/>
            </a:xfrm>
            <a:custGeom>
              <a:avLst/>
              <a:gdLst/>
              <a:ahLst/>
              <a:cxnLst/>
              <a:rect r="r" b="b" t="t" l="l"/>
              <a:pathLst>
                <a:path h="2013204" w="5490718">
                  <a:moveTo>
                    <a:pt x="0" y="335534"/>
                  </a:moveTo>
                  <a:cubicBezTo>
                    <a:pt x="0" y="150241"/>
                    <a:pt x="151638" y="0"/>
                    <a:pt x="338709" y="0"/>
                  </a:cubicBezTo>
                  <a:lnTo>
                    <a:pt x="5152009" y="0"/>
                  </a:lnTo>
                  <a:cubicBezTo>
                    <a:pt x="5339080" y="0"/>
                    <a:pt x="5490718" y="150241"/>
                    <a:pt x="5490718" y="335534"/>
                  </a:cubicBezTo>
                  <a:lnTo>
                    <a:pt x="5490718" y="1677670"/>
                  </a:lnTo>
                  <a:cubicBezTo>
                    <a:pt x="5490718" y="1862963"/>
                    <a:pt x="5339080" y="2013204"/>
                    <a:pt x="5152009" y="2013204"/>
                  </a:cubicBezTo>
                  <a:lnTo>
                    <a:pt x="338709" y="2013204"/>
                  </a:lnTo>
                  <a:cubicBezTo>
                    <a:pt x="151638" y="2013204"/>
                    <a:pt x="0" y="1863090"/>
                    <a:pt x="0" y="1677670"/>
                  </a:cubicBezTo>
                  <a:close/>
                </a:path>
              </a:pathLst>
            </a:custGeom>
            <a:solidFill>
              <a:srgbClr val="FFFAEE"/>
            </a:solidFill>
          </p:spPr>
        </p:sp>
        <p:sp>
          <p:nvSpPr>
            <p:cNvPr name="Freeform 30" id="30"/>
            <p:cNvSpPr/>
            <p:nvPr/>
          </p:nvSpPr>
          <p:spPr>
            <a:xfrm flipH="false" flipV="false" rot="0">
              <a:off x="0" y="0"/>
              <a:ext cx="5521198" cy="2043684"/>
            </a:xfrm>
            <a:custGeom>
              <a:avLst/>
              <a:gdLst/>
              <a:ahLst/>
              <a:cxnLst/>
              <a:rect r="r" b="b" t="t" l="l"/>
              <a:pathLst>
                <a:path h="2043684" w="5521198">
                  <a:moveTo>
                    <a:pt x="0" y="350774"/>
                  </a:moveTo>
                  <a:cubicBezTo>
                    <a:pt x="0" y="156972"/>
                    <a:pt x="158623" y="0"/>
                    <a:pt x="353949" y="0"/>
                  </a:cubicBezTo>
                  <a:lnTo>
                    <a:pt x="5167249" y="0"/>
                  </a:lnTo>
                  <a:lnTo>
                    <a:pt x="5167249" y="15240"/>
                  </a:lnTo>
                  <a:lnTo>
                    <a:pt x="5167249" y="0"/>
                  </a:lnTo>
                  <a:cubicBezTo>
                    <a:pt x="5362575" y="0"/>
                    <a:pt x="5521198" y="156972"/>
                    <a:pt x="5521198" y="350774"/>
                  </a:cubicBezTo>
                  <a:lnTo>
                    <a:pt x="5505958" y="350774"/>
                  </a:lnTo>
                  <a:lnTo>
                    <a:pt x="5521198" y="350774"/>
                  </a:lnTo>
                  <a:lnTo>
                    <a:pt x="5521198" y="1692910"/>
                  </a:lnTo>
                  <a:lnTo>
                    <a:pt x="5505958" y="1692910"/>
                  </a:lnTo>
                  <a:lnTo>
                    <a:pt x="5521198" y="1692910"/>
                  </a:lnTo>
                  <a:cubicBezTo>
                    <a:pt x="5521198" y="1886839"/>
                    <a:pt x="5362575" y="2043684"/>
                    <a:pt x="5167249" y="2043684"/>
                  </a:cubicBezTo>
                  <a:lnTo>
                    <a:pt x="5167249" y="2028444"/>
                  </a:lnTo>
                  <a:lnTo>
                    <a:pt x="5167249" y="2043684"/>
                  </a:lnTo>
                  <a:lnTo>
                    <a:pt x="353949" y="2043684"/>
                  </a:lnTo>
                  <a:lnTo>
                    <a:pt x="353949" y="2028444"/>
                  </a:lnTo>
                  <a:lnTo>
                    <a:pt x="353949" y="2043684"/>
                  </a:lnTo>
                  <a:cubicBezTo>
                    <a:pt x="158623" y="2043811"/>
                    <a:pt x="0" y="1886839"/>
                    <a:pt x="0" y="1692910"/>
                  </a:cubicBezTo>
                  <a:lnTo>
                    <a:pt x="0" y="350774"/>
                  </a:lnTo>
                  <a:lnTo>
                    <a:pt x="15240" y="350774"/>
                  </a:lnTo>
                  <a:lnTo>
                    <a:pt x="0" y="350774"/>
                  </a:lnTo>
                  <a:moveTo>
                    <a:pt x="30480" y="350774"/>
                  </a:moveTo>
                  <a:lnTo>
                    <a:pt x="30480" y="1692910"/>
                  </a:lnTo>
                  <a:lnTo>
                    <a:pt x="15240" y="1692910"/>
                  </a:lnTo>
                  <a:lnTo>
                    <a:pt x="30480" y="1692910"/>
                  </a:lnTo>
                  <a:cubicBezTo>
                    <a:pt x="30480" y="1869694"/>
                    <a:pt x="175133" y="2013204"/>
                    <a:pt x="353949" y="2013204"/>
                  </a:cubicBezTo>
                  <a:lnTo>
                    <a:pt x="5167249" y="2013204"/>
                  </a:lnTo>
                  <a:cubicBezTo>
                    <a:pt x="5346065" y="2013204"/>
                    <a:pt x="5490718" y="1869694"/>
                    <a:pt x="5490718" y="1692910"/>
                  </a:cubicBezTo>
                  <a:lnTo>
                    <a:pt x="5490718" y="350774"/>
                  </a:lnTo>
                  <a:cubicBezTo>
                    <a:pt x="5490718" y="173990"/>
                    <a:pt x="5346065" y="30480"/>
                    <a:pt x="5167249" y="30480"/>
                  </a:cubicBezTo>
                  <a:lnTo>
                    <a:pt x="353949" y="30480"/>
                  </a:lnTo>
                  <a:lnTo>
                    <a:pt x="353949" y="15240"/>
                  </a:lnTo>
                  <a:lnTo>
                    <a:pt x="353949" y="30480"/>
                  </a:lnTo>
                  <a:cubicBezTo>
                    <a:pt x="175260" y="30480"/>
                    <a:pt x="30480" y="173990"/>
                    <a:pt x="30480" y="350774"/>
                  </a:cubicBezTo>
                  <a:close/>
                </a:path>
              </a:pathLst>
            </a:custGeom>
            <a:solidFill>
              <a:srgbClr val="7B8E6F"/>
            </a:solidFill>
          </p:spPr>
        </p:sp>
      </p:grpSp>
      <p:sp>
        <p:nvSpPr>
          <p:cNvPr name="TextBox 31" id="31"/>
          <p:cNvSpPr txBox="true"/>
          <p:nvPr/>
        </p:nvSpPr>
        <p:spPr>
          <a:xfrm rot="0">
            <a:off x="12303681" y="4341085"/>
            <a:ext cx="3532413" cy="219075"/>
          </a:xfrm>
          <a:prstGeom prst="rect">
            <a:avLst/>
          </a:prstGeom>
        </p:spPr>
        <p:txBody>
          <a:bodyPr anchor="t" rtlCol="false" tIns="0" lIns="0" bIns="0" rIns="0">
            <a:spAutoFit/>
          </a:bodyPr>
          <a:lstStyle/>
          <a:p>
            <a:pPr algn="l">
              <a:lnSpc>
                <a:spcPts val="1531"/>
              </a:lnSpc>
            </a:pPr>
            <a:r>
              <a:rPr lang="en-US" sz="1275" b="true">
                <a:solidFill>
                  <a:srgbClr val="746157"/>
                </a:solidFill>
                <a:latin typeface="Consolas Bold"/>
                <a:ea typeface="Consolas Bold"/>
                <a:cs typeface="Consolas Bold"/>
                <a:sym typeface="Consolas Bold"/>
              </a:rPr>
              <a:t>MEDIAN</a:t>
            </a:r>
          </a:p>
        </p:txBody>
      </p:sp>
      <p:sp>
        <p:nvSpPr>
          <p:cNvPr name="TextBox 32" id="32"/>
          <p:cNvSpPr txBox="true"/>
          <p:nvPr/>
        </p:nvSpPr>
        <p:spPr>
          <a:xfrm rot="0">
            <a:off x="12303681" y="4659878"/>
            <a:ext cx="3532413" cy="523875"/>
          </a:xfrm>
          <a:prstGeom prst="rect">
            <a:avLst/>
          </a:prstGeom>
        </p:spPr>
        <p:txBody>
          <a:bodyPr anchor="t" rtlCol="false" tIns="0" lIns="0" bIns="0" rIns="0">
            <a:spAutoFit/>
          </a:bodyPr>
          <a:lstStyle/>
          <a:p>
            <a:pPr algn="l">
              <a:lnSpc>
                <a:spcPts val="3602"/>
              </a:lnSpc>
            </a:pPr>
            <a:r>
              <a:rPr lang="en-US" sz="3002" b="true">
                <a:solidFill>
                  <a:srgbClr val="7B8E6F"/>
                </a:solidFill>
                <a:latin typeface="Consolas Bold"/>
                <a:ea typeface="Consolas Bold"/>
                <a:cs typeface="Consolas Bold"/>
                <a:sym typeface="Consolas Bold"/>
              </a:rPr>
              <a:t>2.88 days</a:t>
            </a:r>
          </a:p>
        </p:txBody>
      </p:sp>
      <p:sp>
        <p:nvSpPr>
          <p:cNvPr name="TextBox 33" id="33"/>
          <p:cNvSpPr txBox="true"/>
          <p:nvPr/>
        </p:nvSpPr>
        <p:spPr>
          <a:xfrm rot="0">
            <a:off x="12303681" y="5319884"/>
            <a:ext cx="3532413" cy="457200"/>
          </a:xfrm>
          <a:prstGeom prst="rect">
            <a:avLst/>
          </a:prstGeom>
        </p:spPr>
        <p:txBody>
          <a:bodyPr anchor="t" rtlCol="false" tIns="0" lIns="0" bIns="0" rIns="0">
            <a:spAutoFit/>
          </a:bodyPr>
          <a:lstStyle/>
          <a:p>
            <a:pPr algn="l">
              <a:lnSpc>
                <a:spcPts val="1711"/>
              </a:lnSpc>
            </a:pPr>
            <a:r>
              <a:rPr lang="en-US" sz="1426">
                <a:solidFill>
                  <a:srgbClr val="3D2A26"/>
                </a:solidFill>
                <a:latin typeface="Consolas"/>
                <a:ea typeface="Consolas"/>
                <a:cs typeface="Consolas"/>
                <a:sym typeface="Consolas"/>
              </a:rPr>
              <a:t>Better picture of the typical request</a:t>
            </a:r>
          </a:p>
        </p:txBody>
      </p:sp>
      <p:sp>
        <p:nvSpPr>
          <p:cNvPr name="TextBox 34" id="34"/>
          <p:cNvSpPr txBox="true"/>
          <p:nvPr/>
        </p:nvSpPr>
        <p:spPr>
          <a:xfrm rot="0">
            <a:off x="12056602" y="6353594"/>
            <a:ext cx="4850178" cy="990600"/>
          </a:xfrm>
          <a:prstGeom prst="rect">
            <a:avLst/>
          </a:prstGeom>
        </p:spPr>
        <p:txBody>
          <a:bodyPr anchor="t" rtlCol="false" tIns="0" lIns="0" bIns="0" rIns="0">
            <a:spAutoFit/>
          </a:bodyPr>
          <a:lstStyle/>
          <a:p>
            <a:pPr algn="l">
              <a:lnSpc>
                <a:spcPts val="2521"/>
              </a:lnSpc>
            </a:pPr>
            <a:r>
              <a:rPr lang="en-US" sz="2101" b="true">
                <a:solidFill>
                  <a:srgbClr val="6F4336"/>
                </a:solidFill>
                <a:latin typeface="Consolas Bold"/>
                <a:ea typeface="Consolas Bold"/>
                <a:cs typeface="Consolas Bold"/>
                <a:sym typeface="Consolas Bold"/>
              </a:rPr>
              <a:t>This right skew means most requests closed faster than the average alone suggests.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353151"/>
            <a:chOff x="0" y="0"/>
            <a:chExt cx="3294418" cy="3137535"/>
          </a:xfrm>
        </p:grpSpPr>
        <p:sp>
          <p:nvSpPr>
            <p:cNvPr name="Freeform 13" id="13" descr="image20.png"/>
            <p:cNvSpPr/>
            <p:nvPr/>
          </p:nvSpPr>
          <p:spPr>
            <a:xfrm flipH="false" flipV="false" rot="0">
              <a:off x="0" y="0"/>
              <a:ext cx="3294380" cy="3137535"/>
            </a:xfrm>
            <a:custGeom>
              <a:avLst/>
              <a:gdLst/>
              <a:ahLst/>
              <a:cxnLst/>
              <a:rect r="r" b="b" t="t" l="l"/>
              <a:pathLst>
                <a:path h="3137535" w="3294380">
                  <a:moveTo>
                    <a:pt x="0" y="0"/>
                  </a:moveTo>
                  <a:lnTo>
                    <a:pt x="3294380" y="0"/>
                  </a:lnTo>
                  <a:lnTo>
                    <a:pt x="3294380" y="3137535"/>
                  </a:lnTo>
                  <a:lnTo>
                    <a:pt x="0" y="3137535"/>
                  </a:lnTo>
                  <a:lnTo>
                    <a:pt x="0" y="0"/>
                  </a:lnTo>
                  <a:close/>
                </a:path>
              </a:pathLst>
            </a:custGeom>
            <a:blipFill>
              <a:blip r:embed="rId4"/>
              <a:stretch>
                <a:fillRect l="0" t="0" r="-1" b="0"/>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14</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ANALYSIS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Longest Average Response Times</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The slowest categories were not the same as the most common categories.</a:t>
            </a:r>
          </a:p>
        </p:txBody>
      </p:sp>
      <p:grpSp>
        <p:nvGrpSpPr>
          <p:cNvPr name="Group 20" id="20"/>
          <p:cNvGrpSpPr/>
          <p:nvPr/>
        </p:nvGrpSpPr>
        <p:grpSpPr>
          <a:xfrm rot="0">
            <a:off x="658887" y="2388218"/>
            <a:ext cx="10828032" cy="5230099"/>
            <a:chOff x="0" y="0"/>
            <a:chExt cx="17240764" cy="8327542"/>
          </a:xfrm>
        </p:grpSpPr>
        <p:sp>
          <p:nvSpPr>
            <p:cNvPr name="Freeform 21" id="21" descr="10 311 types response time dataset.png"/>
            <p:cNvSpPr/>
            <p:nvPr/>
          </p:nvSpPr>
          <p:spPr>
            <a:xfrm flipH="false" flipV="false" rot="0">
              <a:off x="0" y="0"/>
              <a:ext cx="17240718" cy="8327517"/>
            </a:xfrm>
            <a:custGeom>
              <a:avLst/>
              <a:gdLst/>
              <a:ahLst/>
              <a:cxnLst/>
              <a:rect r="r" b="b" t="t" l="l"/>
              <a:pathLst>
                <a:path h="8327517" w="17240718">
                  <a:moveTo>
                    <a:pt x="0" y="0"/>
                  </a:moveTo>
                  <a:lnTo>
                    <a:pt x="17240718" y="0"/>
                  </a:lnTo>
                  <a:lnTo>
                    <a:pt x="17240718" y="8327517"/>
                  </a:lnTo>
                  <a:lnTo>
                    <a:pt x="0" y="8327517"/>
                  </a:lnTo>
                  <a:lnTo>
                    <a:pt x="0" y="0"/>
                  </a:lnTo>
                  <a:close/>
                </a:path>
              </a:pathLst>
            </a:custGeom>
            <a:blipFill>
              <a:blip r:embed="rId5"/>
              <a:stretch>
                <a:fillRect l="0" t="-1606" r="0" b="-1606"/>
              </a:stretch>
            </a:blipFill>
          </p:spPr>
        </p:sp>
      </p:grpSp>
      <p:grpSp>
        <p:nvGrpSpPr>
          <p:cNvPr name="Group 22" id="22"/>
          <p:cNvGrpSpPr/>
          <p:nvPr/>
        </p:nvGrpSpPr>
        <p:grpSpPr>
          <a:xfrm rot="0">
            <a:off x="12079519" y="2402176"/>
            <a:ext cx="3019882" cy="466709"/>
            <a:chOff x="0" y="0"/>
            <a:chExt cx="4026510" cy="622278"/>
          </a:xfrm>
        </p:grpSpPr>
        <p:sp>
          <p:nvSpPr>
            <p:cNvPr name="Freeform 23" id="23"/>
            <p:cNvSpPr/>
            <p:nvPr/>
          </p:nvSpPr>
          <p:spPr>
            <a:xfrm flipH="false" flipV="false" rot="0">
              <a:off x="0" y="0"/>
              <a:ext cx="4026535" cy="622304"/>
            </a:xfrm>
            <a:custGeom>
              <a:avLst/>
              <a:gdLst/>
              <a:ahLst/>
              <a:cxnLst/>
              <a:rect r="r" b="b" t="t" l="l"/>
              <a:pathLst>
                <a:path h="622304" w="4026535">
                  <a:moveTo>
                    <a:pt x="0" y="103760"/>
                  </a:moveTo>
                  <a:cubicBezTo>
                    <a:pt x="0" y="46482"/>
                    <a:pt x="46482" y="0"/>
                    <a:pt x="103759" y="0"/>
                  </a:cubicBezTo>
                  <a:lnTo>
                    <a:pt x="3922776" y="0"/>
                  </a:lnTo>
                  <a:cubicBezTo>
                    <a:pt x="3980053" y="0"/>
                    <a:pt x="4026535" y="46482"/>
                    <a:pt x="4026535" y="103760"/>
                  </a:cubicBezTo>
                  <a:lnTo>
                    <a:pt x="4026535" y="518544"/>
                  </a:lnTo>
                  <a:cubicBezTo>
                    <a:pt x="4026535" y="575821"/>
                    <a:pt x="3980053" y="622304"/>
                    <a:pt x="3922776" y="622304"/>
                  </a:cubicBezTo>
                  <a:lnTo>
                    <a:pt x="103759" y="622304"/>
                  </a:lnTo>
                  <a:cubicBezTo>
                    <a:pt x="46482" y="622304"/>
                    <a:pt x="0" y="575821"/>
                    <a:pt x="0" y="518544"/>
                  </a:cubicBezTo>
                  <a:close/>
                </a:path>
              </a:pathLst>
            </a:custGeom>
            <a:solidFill>
              <a:srgbClr val="4A9BC1"/>
            </a:solidFill>
          </p:spPr>
        </p:sp>
        <p:sp>
          <p:nvSpPr>
            <p:cNvPr name="TextBox 24" id="24"/>
            <p:cNvSpPr txBox="true"/>
            <p:nvPr/>
          </p:nvSpPr>
          <p:spPr>
            <a:xfrm>
              <a:off x="0" y="-38100"/>
              <a:ext cx="4026510"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Code translation</a:t>
              </a:r>
            </a:p>
          </p:txBody>
        </p:sp>
      </p:grpSp>
      <p:sp>
        <p:nvSpPr>
          <p:cNvPr name="TextBox 25" id="25"/>
          <p:cNvSpPr txBox="true"/>
          <p:nvPr/>
        </p:nvSpPr>
        <p:spPr>
          <a:xfrm rot="0">
            <a:off x="12125239" y="2990545"/>
            <a:ext cx="4987452" cy="2257425"/>
          </a:xfrm>
          <a:prstGeom prst="rect">
            <a:avLst/>
          </a:prstGeom>
        </p:spPr>
        <p:txBody>
          <a:bodyPr anchor="t" rtlCol="false" tIns="0" lIns="0" bIns="0" rIns="0">
            <a:spAutoFit/>
          </a:bodyPr>
          <a:lstStyle/>
          <a:p>
            <a:pPr algn="l">
              <a:lnSpc>
                <a:spcPts val="2233"/>
              </a:lnSpc>
            </a:pPr>
            <a:r>
              <a:rPr lang="en-US" sz="1861">
                <a:solidFill>
                  <a:srgbClr val="3D2A26"/>
                </a:solidFill>
                <a:latin typeface="Consolas"/>
                <a:ea typeface="Consolas"/>
                <a:cs typeface="Consolas"/>
                <a:sym typeface="Consolas"/>
              </a:rPr>
              <a:t>• DCDOGPRKMNT2022 = DC Dog Park Maintenance</a:t>
            </a:r>
          </a:p>
          <a:p>
            <a:pPr algn="l">
              <a:lnSpc>
                <a:spcPts val="2233"/>
              </a:lnSpc>
            </a:pPr>
            <a:r>
              <a:rPr lang="en-US" sz="1861">
                <a:solidFill>
                  <a:srgbClr val="3D2A26"/>
                </a:solidFill>
                <a:latin typeface="Consolas"/>
                <a:ea typeface="Consolas"/>
                <a:cs typeface="Consolas"/>
                <a:sym typeface="Consolas"/>
              </a:rPr>
              <a:t>• COMPOST = compost bin or curbside composting issue</a:t>
            </a:r>
          </a:p>
          <a:p>
            <a:pPr algn="l">
              <a:lnSpc>
                <a:spcPts val="2233"/>
              </a:lnSpc>
            </a:pPr>
            <a:r>
              <a:rPr lang="en-US" sz="1861">
                <a:solidFill>
                  <a:srgbClr val="3D2A26"/>
                </a:solidFill>
                <a:latin typeface="Consolas"/>
                <a:ea typeface="Consolas"/>
                <a:cs typeface="Consolas"/>
                <a:sym typeface="Consolas"/>
              </a:rPr>
              <a:t>• DCSPRAY2022 = DC Spray Parks</a:t>
            </a:r>
          </a:p>
          <a:p>
            <a:pPr algn="l">
              <a:lnSpc>
                <a:spcPts val="2233"/>
              </a:lnSpc>
            </a:pPr>
            <a:r>
              <a:rPr lang="en-US" sz="1861">
                <a:solidFill>
                  <a:srgbClr val="3D2A26"/>
                </a:solidFill>
                <a:latin typeface="Consolas"/>
                <a:ea typeface="Consolas"/>
                <a:cs typeface="Consolas"/>
                <a:sym typeface="Consolas"/>
              </a:rPr>
              <a:t>• DCINOUTPOOL2022 = DC pool maintenance</a:t>
            </a:r>
          </a:p>
          <a:p>
            <a:pPr algn="l">
              <a:lnSpc>
                <a:spcPts val="2233"/>
              </a:lnSpc>
            </a:pPr>
            <a:r>
              <a:rPr lang="en-US" sz="1861">
                <a:solidFill>
                  <a:srgbClr val="3D2A26"/>
                </a:solidFill>
                <a:latin typeface="Consolas"/>
                <a:ea typeface="Consolas"/>
                <a:cs typeface="Consolas"/>
                <a:sym typeface="Consolas"/>
              </a:rPr>
              <a:t>• S0406 = Roadway Repair</a:t>
            </a:r>
          </a:p>
        </p:txBody>
      </p:sp>
      <p:sp>
        <p:nvSpPr>
          <p:cNvPr name="TextBox 26" id="26"/>
          <p:cNvSpPr txBox="true"/>
          <p:nvPr/>
        </p:nvSpPr>
        <p:spPr>
          <a:xfrm rot="0">
            <a:off x="12125239" y="6737080"/>
            <a:ext cx="4987452" cy="1019175"/>
          </a:xfrm>
          <a:prstGeom prst="rect">
            <a:avLst/>
          </a:prstGeom>
        </p:spPr>
        <p:txBody>
          <a:bodyPr anchor="t" rtlCol="false" tIns="0" lIns="0" bIns="0" rIns="0">
            <a:spAutoFit/>
          </a:bodyPr>
          <a:lstStyle/>
          <a:p>
            <a:pPr algn="l">
              <a:lnSpc>
                <a:spcPts val="2617"/>
              </a:lnSpc>
            </a:pPr>
            <a:r>
              <a:rPr lang="en-US" sz="2181" b="true">
                <a:solidFill>
                  <a:srgbClr val="6F4336"/>
                </a:solidFill>
                <a:latin typeface="Consolas Bold"/>
                <a:ea typeface="Consolas Bold"/>
                <a:cs typeface="Consolas Bold"/>
                <a:sym typeface="Consolas Bold"/>
              </a:rPr>
              <a:t>Finding: long response times indicate service complexity, not just request volume.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1DE"/>
        </a:solidFill>
      </p:bgPr>
    </p:bg>
    <p:spTree>
      <p:nvGrpSpPr>
        <p:cNvPr id="1" name=""/>
        <p:cNvGrpSpPr/>
        <p:nvPr/>
      </p:nvGrpSpPr>
      <p:grpSpPr>
        <a:xfrm>
          <a:off x="0" y="0"/>
          <a:ext cx="0" cy="0"/>
          <a:chOff x="0" y="0"/>
          <a:chExt cx="0" cy="0"/>
        </a:xfrm>
      </p:grpSpPr>
      <p:grpSp>
        <p:nvGrpSpPr>
          <p:cNvPr name="Group 2" id="2"/>
          <p:cNvGrpSpPr/>
          <p:nvPr/>
        </p:nvGrpSpPr>
        <p:grpSpPr>
          <a:xfrm rot="0">
            <a:off x="-27451" y="247079"/>
            <a:ext cx="1372676" cy="434683"/>
            <a:chOff x="0" y="0"/>
            <a:chExt cx="1830235" cy="579577"/>
          </a:xfrm>
        </p:grpSpPr>
        <p:sp>
          <p:nvSpPr>
            <p:cNvPr name="Freeform 3" id="3" descr="image3.png"/>
            <p:cNvSpPr/>
            <p:nvPr/>
          </p:nvSpPr>
          <p:spPr>
            <a:xfrm flipH="false" flipV="false" rot="0">
              <a:off x="0" y="0"/>
              <a:ext cx="1830197" cy="579628"/>
            </a:xfrm>
            <a:custGeom>
              <a:avLst/>
              <a:gdLst/>
              <a:ahLst/>
              <a:cxnLst/>
              <a:rect r="r" b="b" t="t" l="l"/>
              <a:pathLst>
                <a:path h="579628" w="1830197">
                  <a:moveTo>
                    <a:pt x="0" y="0"/>
                  </a:moveTo>
                  <a:lnTo>
                    <a:pt x="1830197" y="0"/>
                  </a:lnTo>
                  <a:lnTo>
                    <a:pt x="1830197" y="579628"/>
                  </a:lnTo>
                  <a:lnTo>
                    <a:pt x="0" y="579628"/>
                  </a:lnTo>
                  <a:lnTo>
                    <a:pt x="0" y="0"/>
                  </a:lnTo>
                  <a:close/>
                </a:path>
              </a:pathLst>
            </a:custGeom>
            <a:blipFill>
              <a:blip r:embed="rId2"/>
              <a:stretch>
                <a:fillRect l="0" t="0" r="-2" b="8"/>
              </a:stretch>
            </a:blipFill>
          </p:spPr>
        </p:sp>
      </p:grpSp>
      <p:grpSp>
        <p:nvGrpSpPr>
          <p:cNvPr name="Group 4" id="4"/>
          <p:cNvGrpSpPr/>
          <p:nvPr/>
        </p:nvGrpSpPr>
        <p:grpSpPr>
          <a:xfrm rot="0">
            <a:off x="16266166" y="343167"/>
            <a:ext cx="1235402" cy="391211"/>
            <a:chOff x="0" y="0"/>
            <a:chExt cx="1647203" cy="521614"/>
          </a:xfrm>
        </p:grpSpPr>
        <p:sp>
          <p:nvSpPr>
            <p:cNvPr name="Freeform 5" id="5" descr="image3.png"/>
            <p:cNvSpPr/>
            <p:nvPr/>
          </p:nvSpPr>
          <p:spPr>
            <a:xfrm flipH="false" flipV="false" rot="0">
              <a:off x="0" y="0"/>
              <a:ext cx="1647190" cy="521589"/>
            </a:xfrm>
            <a:custGeom>
              <a:avLst/>
              <a:gdLst/>
              <a:ahLst/>
              <a:cxnLst/>
              <a:rect r="r" b="b" t="t" l="l"/>
              <a:pathLst>
                <a:path h="521589" w="1647190">
                  <a:moveTo>
                    <a:pt x="0" y="0"/>
                  </a:moveTo>
                  <a:lnTo>
                    <a:pt x="1647190" y="0"/>
                  </a:lnTo>
                  <a:lnTo>
                    <a:pt x="1647190" y="521589"/>
                  </a:lnTo>
                  <a:lnTo>
                    <a:pt x="0" y="521589"/>
                  </a:lnTo>
                  <a:lnTo>
                    <a:pt x="0" y="0"/>
                  </a:lnTo>
                  <a:close/>
                </a:path>
              </a:pathLst>
            </a:custGeom>
            <a:blipFill>
              <a:blip r:embed="rId2"/>
              <a:stretch>
                <a:fillRect l="0" t="0" r="0" b="-4"/>
              </a:stretch>
            </a:blipFill>
          </p:spPr>
        </p:sp>
      </p:grpSp>
      <p:grpSp>
        <p:nvGrpSpPr>
          <p:cNvPr name="Group 6" id="6"/>
          <p:cNvGrpSpPr/>
          <p:nvPr/>
        </p:nvGrpSpPr>
        <p:grpSpPr>
          <a:xfrm rot="0">
            <a:off x="14275794" y="892235"/>
            <a:ext cx="892235" cy="282540"/>
            <a:chOff x="0" y="0"/>
            <a:chExt cx="1189647" cy="376720"/>
          </a:xfrm>
        </p:grpSpPr>
        <p:sp>
          <p:nvSpPr>
            <p:cNvPr name="Freeform 7" id="7" descr="image7.png"/>
            <p:cNvSpPr/>
            <p:nvPr/>
          </p:nvSpPr>
          <p:spPr>
            <a:xfrm flipH="false" flipV="false" rot="0">
              <a:off x="0" y="0"/>
              <a:ext cx="1189609" cy="376682"/>
            </a:xfrm>
            <a:custGeom>
              <a:avLst/>
              <a:gdLst/>
              <a:ahLst/>
              <a:cxnLst/>
              <a:rect r="r" b="b" t="t" l="l"/>
              <a:pathLst>
                <a:path h="376682" w="1189609">
                  <a:moveTo>
                    <a:pt x="0" y="0"/>
                  </a:moveTo>
                  <a:lnTo>
                    <a:pt x="1189609" y="0"/>
                  </a:lnTo>
                  <a:lnTo>
                    <a:pt x="1189609" y="376682"/>
                  </a:lnTo>
                  <a:lnTo>
                    <a:pt x="0" y="376682"/>
                  </a:lnTo>
                  <a:lnTo>
                    <a:pt x="0" y="0"/>
                  </a:lnTo>
                  <a:close/>
                </a:path>
              </a:pathLst>
            </a:custGeom>
            <a:blipFill>
              <a:blip r:embed="rId3"/>
              <a:stretch>
                <a:fillRect l="0" t="0" r="-3" b="-10"/>
              </a:stretch>
            </a:blipFill>
          </p:spPr>
        </p:sp>
      </p:grpSp>
      <p:grpSp>
        <p:nvGrpSpPr>
          <p:cNvPr name="Group 8" id="8"/>
          <p:cNvGrpSpPr/>
          <p:nvPr/>
        </p:nvGrpSpPr>
        <p:grpSpPr>
          <a:xfrm rot="0">
            <a:off x="2333539" y="8236039"/>
            <a:ext cx="754971" cy="239078"/>
            <a:chOff x="0" y="0"/>
            <a:chExt cx="1006627" cy="318770"/>
          </a:xfrm>
        </p:grpSpPr>
        <p:sp>
          <p:nvSpPr>
            <p:cNvPr name="Freeform 9" id="9" descr="image7.png"/>
            <p:cNvSpPr/>
            <p:nvPr/>
          </p:nvSpPr>
          <p:spPr>
            <a:xfrm flipH="false" flipV="false" rot="0">
              <a:off x="0" y="0"/>
              <a:ext cx="1006602" cy="318770"/>
            </a:xfrm>
            <a:custGeom>
              <a:avLst/>
              <a:gdLst/>
              <a:ahLst/>
              <a:cxnLst/>
              <a:rect r="r" b="b" t="t" l="l"/>
              <a:pathLst>
                <a:path h="318770" w="1006602">
                  <a:moveTo>
                    <a:pt x="0" y="0"/>
                  </a:moveTo>
                  <a:lnTo>
                    <a:pt x="1006602" y="0"/>
                  </a:lnTo>
                  <a:lnTo>
                    <a:pt x="1006602" y="318770"/>
                  </a:lnTo>
                  <a:lnTo>
                    <a:pt x="0" y="318770"/>
                  </a:lnTo>
                  <a:lnTo>
                    <a:pt x="0" y="0"/>
                  </a:lnTo>
                  <a:close/>
                </a:path>
              </a:pathLst>
            </a:custGeom>
            <a:blipFill>
              <a:blip r:embed="rId3"/>
              <a:stretch>
                <a:fillRect l="0" t="0" r="-2" b="0"/>
              </a:stretch>
            </a:blipFill>
          </p:spPr>
        </p:sp>
      </p:grpSp>
      <p:grpSp>
        <p:nvGrpSpPr>
          <p:cNvPr name="Group 10" id="10"/>
          <p:cNvGrpSpPr/>
          <p:nvPr/>
        </p:nvGrpSpPr>
        <p:grpSpPr>
          <a:xfrm rot="0">
            <a:off x="754971" y="9292990"/>
            <a:ext cx="16815235" cy="34319"/>
            <a:chOff x="0" y="0"/>
            <a:chExt cx="22420313" cy="45758"/>
          </a:xfrm>
        </p:grpSpPr>
        <p:sp>
          <p:nvSpPr>
            <p:cNvPr name="Freeform 11" id="11"/>
            <p:cNvSpPr/>
            <p:nvPr/>
          </p:nvSpPr>
          <p:spPr>
            <a:xfrm flipH="false" flipV="false" rot="0">
              <a:off x="0" y="0"/>
              <a:ext cx="22420326" cy="45720"/>
            </a:xfrm>
            <a:custGeom>
              <a:avLst/>
              <a:gdLst/>
              <a:ahLst/>
              <a:cxnLst/>
              <a:rect r="r" b="b" t="t" l="l"/>
              <a:pathLst>
                <a:path h="45720" w="22420326">
                  <a:moveTo>
                    <a:pt x="0" y="0"/>
                  </a:moveTo>
                  <a:lnTo>
                    <a:pt x="22420326" y="0"/>
                  </a:lnTo>
                  <a:lnTo>
                    <a:pt x="22420326" y="45720"/>
                  </a:lnTo>
                  <a:lnTo>
                    <a:pt x="0" y="45720"/>
                  </a:lnTo>
                  <a:close/>
                </a:path>
              </a:pathLst>
            </a:custGeom>
            <a:solidFill>
              <a:srgbClr val="E0CA9C"/>
            </a:solidFill>
          </p:spPr>
        </p:sp>
      </p:grpSp>
      <p:grpSp>
        <p:nvGrpSpPr>
          <p:cNvPr name="Group 12" id="12"/>
          <p:cNvGrpSpPr/>
          <p:nvPr/>
        </p:nvGrpSpPr>
        <p:grpSpPr>
          <a:xfrm rot="0">
            <a:off x="14618960" y="7343794"/>
            <a:ext cx="2470814" cy="2016985"/>
            <a:chOff x="0" y="0"/>
            <a:chExt cx="3294418" cy="2689314"/>
          </a:xfrm>
        </p:grpSpPr>
        <p:sp>
          <p:nvSpPr>
            <p:cNvPr name="Freeform 13" id="13" descr="image30.png"/>
            <p:cNvSpPr/>
            <p:nvPr/>
          </p:nvSpPr>
          <p:spPr>
            <a:xfrm flipH="false" flipV="false" rot="0">
              <a:off x="0" y="0"/>
              <a:ext cx="3294380" cy="2689352"/>
            </a:xfrm>
            <a:custGeom>
              <a:avLst/>
              <a:gdLst/>
              <a:ahLst/>
              <a:cxnLst/>
              <a:rect r="r" b="b" t="t" l="l"/>
              <a:pathLst>
                <a:path h="2689352" w="3294380">
                  <a:moveTo>
                    <a:pt x="0" y="0"/>
                  </a:moveTo>
                  <a:lnTo>
                    <a:pt x="3294380" y="0"/>
                  </a:lnTo>
                  <a:lnTo>
                    <a:pt x="3294380" y="2689352"/>
                  </a:lnTo>
                  <a:lnTo>
                    <a:pt x="0" y="2689352"/>
                  </a:lnTo>
                  <a:lnTo>
                    <a:pt x="0" y="0"/>
                  </a:lnTo>
                  <a:close/>
                </a:path>
              </a:pathLst>
            </a:custGeom>
            <a:blipFill>
              <a:blip r:embed="rId4"/>
              <a:stretch>
                <a:fillRect l="0" t="0" r="-1" b="1"/>
              </a:stretch>
            </a:blipFill>
          </p:spPr>
        </p:sp>
      </p:grpSp>
      <p:sp>
        <p:nvSpPr>
          <p:cNvPr name="TextBox 14" id="14"/>
          <p:cNvSpPr txBox="true"/>
          <p:nvPr/>
        </p:nvSpPr>
        <p:spPr>
          <a:xfrm rot="0">
            <a:off x="16723690" y="9516056"/>
            <a:ext cx="594893" cy="219075"/>
          </a:xfrm>
          <a:prstGeom prst="rect">
            <a:avLst/>
          </a:prstGeom>
        </p:spPr>
        <p:txBody>
          <a:bodyPr anchor="t" rtlCol="false" tIns="0" lIns="0" bIns="0" rIns="0">
            <a:spAutoFit/>
          </a:bodyPr>
          <a:lstStyle/>
          <a:p>
            <a:pPr algn="r">
              <a:lnSpc>
                <a:spcPts val="1531"/>
              </a:lnSpc>
            </a:pPr>
            <a:r>
              <a:rPr lang="en-US" sz="1275">
                <a:solidFill>
                  <a:srgbClr val="746157"/>
                </a:solidFill>
                <a:latin typeface="Consolas"/>
                <a:ea typeface="Consolas"/>
                <a:cs typeface="Consolas"/>
                <a:sym typeface="Consolas"/>
              </a:rPr>
              <a:t>15</a:t>
            </a:r>
          </a:p>
        </p:txBody>
      </p:sp>
      <p:grpSp>
        <p:nvGrpSpPr>
          <p:cNvPr name="Group 15" id="15"/>
          <p:cNvGrpSpPr/>
          <p:nvPr/>
        </p:nvGrpSpPr>
        <p:grpSpPr>
          <a:xfrm rot="0">
            <a:off x="851059" y="549069"/>
            <a:ext cx="2470814" cy="466709"/>
            <a:chOff x="0" y="0"/>
            <a:chExt cx="3294418" cy="622278"/>
          </a:xfrm>
        </p:grpSpPr>
        <p:sp>
          <p:nvSpPr>
            <p:cNvPr name="Freeform 16" id="16"/>
            <p:cNvSpPr/>
            <p:nvPr/>
          </p:nvSpPr>
          <p:spPr>
            <a:xfrm flipH="false" flipV="false" rot="0">
              <a:off x="0" y="0"/>
              <a:ext cx="3294507" cy="622304"/>
            </a:xfrm>
            <a:custGeom>
              <a:avLst/>
              <a:gdLst/>
              <a:ahLst/>
              <a:cxnLst/>
              <a:rect r="r" b="b" t="t" l="l"/>
              <a:pathLst>
                <a:path h="622304" w="3294507">
                  <a:moveTo>
                    <a:pt x="0" y="103760"/>
                  </a:moveTo>
                  <a:cubicBezTo>
                    <a:pt x="0" y="46482"/>
                    <a:pt x="46482" y="0"/>
                    <a:pt x="103759" y="0"/>
                  </a:cubicBezTo>
                  <a:lnTo>
                    <a:pt x="3190748" y="0"/>
                  </a:lnTo>
                  <a:cubicBezTo>
                    <a:pt x="3248025" y="0"/>
                    <a:pt x="3294507" y="46482"/>
                    <a:pt x="3294507" y="103760"/>
                  </a:cubicBezTo>
                  <a:lnTo>
                    <a:pt x="3294507" y="518544"/>
                  </a:lnTo>
                  <a:cubicBezTo>
                    <a:pt x="3294507" y="575821"/>
                    <a:pt x="3248025" y="622304"/>
                    <a:pt x="3190748" y="622304"/>
                  </a:cubicBezTo>
                  <a:lnTo>
                    <a:pt x="103759" y="622304"/>
                  </a:lnTo>
                  <a:cubicBezTo>
                    <a:pt x="46482" y="622304"/>
                    <a:pt x="0" y="575821"/>
                    <a:pt x="0" y="518544"/>
                  </a:cubicBezTo>
                  <a:close/>
                </a:path>
              </a:pathLst>
            </a:custGeom>
            <a:solidFill>
              <a:srgbClr val="4A9BC1"/>
            </a:solidFill>
          </p:spPr>
        </p:sp>
        <p:sp>
          <p:nvSpPr>
            <p:cNvPr name="TextBox 17" id="17"/>
            <p:cNvSpPr txBox="true"/>
            <p:nvPr/>
          </p:nvSpPr>
          <p:spPr>
            <a:xfrm>
              <a:off x="0" y="-38100"/>
              <a:ext cx="329441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FINDINGS</a:t>
              </a:r>
            </a:p>
          </p:txBody>
        </p:sp>
      </p:grpSp>
      <p:sp>
        <p:nvSpPr>
          <p:cNvPr name="TextBox 18" id="18"/>
          <p:cNvSpPr txBox="true"/>
          <p:nvPr/>
        </p:nvSpPr>
        <p:spPr>
          <a:xfrm rot="0">
            <a:off x="1006592" y="1081402"/>
            <a:ext cx="15007952" cy="647700"/>
          </a:xfrm>
          <a:prstGeom prst="rect">
            <a:avLst/>
          </a:prstGeom>
        </p:spPr>
        <p:txBody>
          <a:bodyPr anchor="t" rtlCol="false" tIns="0" lIns="0" bIns="0" rIns="0">
            <a:spAutoFit/>
          </a:bodyPr>
          <a:lstStyle/>
          <a:p>
            <a:pPr algn="l">
              <a:lnSpc>
                <a:spcPts val="4503"/>
              </a:lnSpc>
            </a:pPr>
            <a:r>
              <a:rPr lang="en-US" sz="3752" b="true">
                <a:solidFill>
                  <a:srgbClr val="6F4336"/>
                </a:solidFill>
                <a:latin typeface="Consolas Bold"/>
                <a:ea typeface="Consolas Bold"/>
                <a:cs typeface="Consolas Bold"/>
                <a:sym typeface="Consolas Bold"/>
              </a:rPr>
              <a:t>Key Findings and Takeaway</a:t>
            </a:r>
          </a:p>
        </p:txBody>
      </p:sp>
      <p:sp>
        <p:nvSpPr>
          <p:cNvPr name="TextBox 19" id="19"/>
          <p:cNvSpPr txBox="true"/>
          <p:nvPr/>
        </p:nvSpPr>
        <p:spPr>
          <a:xfrm rot="0">
            <a:off x="1034044" y="1792119"/>
            <a:ext cx="14733422" cy="295275"/>
          </a:xfrm>
          <a:prstGeom prst="rect">
            <a:avLst/>
          </a:prstGeom>
        </p:spPr>
        <p:txBody>
          <a:bodyPr anchor="t" rtlCol="false" tIns="0" lIns="0" bIns="0" rIns="0">
            <a:spAutoFit/>
          </a:bodyPr>
          <a:lstStyle/>
          <a:p>
            <a:pPr algn="l">
              <a:lnSpc>
                <a:spcPts val="2071"/>
              </a:lnSpc>
            </a:pPr>
            <a:r>
              <a:rPr lang="en-US" sz="1726">
                <a:solidFill>
                  <a:srgbClr val="746157"/>
                </a:solidFill>
                <a:latin typeface="Consolas"/>
                <a:ea typeface="Consolas"/>
                <a:cs typeface="Consolas"/>
                <a:sym typeface="Consolas"/>
              </a:rPr>
              <a:t>The data turned resident concerns into measurable service patterns.</a:t>
            </a:r>
          </a:p>
        </p:txBody>
      </p:sp>
      <p:grpSp>
        <p:nvGrpSpPr>
          <p:cNvPr name="Group 20" id="20"/>
          <p:cNvGrpSpPr/>
          <p:nvPr/>
        </p:nvGrpSpPr>
        <p:grpSpPr>
          <a:xfrm rot="0">
            <a:off x="1166774" y="2402176"/>
            <a:ext cx="2539441" cy="466709"/>
            <a:chOff x="0" y="0"/>
            <a:chExt cx="3385922" cy="622278"/>
          </a:xfrm>
        </p:grpSpPr>
        <p:sp>
          <p:nvSpPr>
            <p:cNvPr name="Freeform 21" id="21"/>
            <p:cNvSpPr/>
            <p:nvPr/>
          </p:nvSpPr>
          <p:spPr>
            <a:xfrm flipH="false" flipV="false" rot="0">
              <a:off x="0" y="0"/>
              <a:ext cx="3385947" cy="622304"/>
            </a:xfrm>
            <a:custGeom>
              <a:avLst/>
              <a:gdLst/>
              <a:ahLst/>
              <a:cxnLst/>
              <a:rect r="r" b="b" t="t" l="l"/>
              <a:pathLst>
                <a:path h="622304" w="3385947">
                  <a:moveTo>
                    <a:pt x="0" y="103760"/>
                  </a:moveTo>
                  <a:cubicBezTo>
                    <a:pt x="0" y="46482"/>
                    <a:pt x="46482" y="0"/>
                    <a:pt x="103759" y="0"/>
                  </a:cubicBezTo>
                  <a:lnTo>
                    <a:pt x="3282188" y="0"/>
                  </a:lnTo>
                  <a:cubicBezTo>
                    <a:pt x="3339465" y="0"/>
                    <a:pt x="3385947" y="46482"/>
                    <a:pt x="3385947" y="103760"/>
                  </a:cubicBezTo>
                  <a:lnTo>
                    <a:pt x="3385947" y="518544"/>
                  </a:lnTo>
                  <a:cubicBezTo>
                    <a:pt x="3385947" y="575821"/>
                    <a:pt x="3339465" y="622304"/>
                    <a:pt x="3282188" y="622304"/>
                  </a:cubicBezTo>
                  <a:lnTo>
                    <a:pt x="103759" y="622304"/>
                  </a:lnTo>
                  <a:cubicBezTo>
                    <a:pt x="46482" y="622304"/>
                    <a:pt x="0" y="575821"/>
                    <a:pt x="0" y="518544"/>
                  </a:cubicBezTo>
                  <a:close/>
                </a:path>
              </a:pathLst>
            </a:custGeom>
            <a:solidFill>
              <a:srgbClr val="C25F4A"/>
            </a:solidFill>
          </p:spPr>
        </p:sp>
        <p:sp>
          <p:nvSpPr>
            <p:cNvPr name="TextBox 22" id="22"/>
            <p:cNvSpPr txBox="true"/>
            <p:nvPr/>
          </p:nvSpPr>
          <p:spPr>
            <a:xfrm>
              <a:off x="0" y="-38100"/>
              <a:ext cx="3385922"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Main findings</a:t>
              </a:r>
            </a:p>
          </p:txBody>
        </p:sp>
      </p:grpSp>
      <p:sp>
        <p:nvSpPr>
          <p:cNvPr name="TextBox 23" id="23"/>
          <p:cNvSpPr txBox="true"/>
          <p:nvPr/>
        </p:nvSpPr>
        <p:spPr>
          <a:xfrm rot="0">
            <a:off x="1281122" y="2990545"/>
            <a:ext cx="7870060" cy="1990725"/>
          </a:xfrm>
          <a:prstGeom prst="rect">
            <a:avLst/>
          </a:prstGeom>
        </p:spPr>
        <p:txBody>
          <a:bodyPr anchor="t" rtlCol="false" tIns="0" lIns="0" bIns="0" rIns="0">
            <a:spAutoFit/>
          </a:bodyPr>
          <a:lstStyle/>
          <a:p>
            <a:pPr algn="l">
              <a:lnSpc>
                <a:spcPts val="2612"/>
              </a:lnSpc>
            </a:pPr>
            <a:r>
              <a:rPr lang="en-US" sz="2176">
                <a:solidFill>
                  <a:srgbClr val="3D2A26"/>
                </a:solidFill>
                <a:latin typeface="Consolas"/>
                <a:ea typeface="Consolas"/>
                <a:cs typeface="Consolas"/>
                <a:sym typeface="Consolas"/>
              </a:rPr>
              <a:t>• Bulk Collection was the most common request type.</a:t>
            </a:r>
          </a:p>
          <a:p>
            <a:pPr algn="l">
              <a:lnSpc>
                <a:spcPts val="2612"/>
              </a:lnSpc>
            </a:pPr>
            <a:r>
              <a:rPr lang="en-US" sz="2176">
                <a:solidFill>
                  <a:srgbClr val="3D2A26"/>
                </a:solidFill>
                <a:latin typeface="Consolas"/>
                <a:ea typeface="Consolas"/>
                <a:cs typeface="Consolas"/>
                <a:sym typeface="Consolas"/>
              </a:rPr>
              <a:t>• Most requests were closed.</a:t>
            </a:r>
          </a:p>
          <a:p>
            <a:pPr algn="l">
              <a:lnSpc>
                <a:spcPts val="2612"/>
              </a:lnSpc>
            </a:pPr>
            <a:r>
              <a:rPr lang="en-US" sz="2176">
                <a:solidFill>
                  <a:srgbClr val="3D2A26"/>
                </a:solidFill>
                <a:latin typeface="Consolas"/>
                <a:ea typeface="Consolas"/>
                <a:cs typeface="Consolas"/>
                <a:sym typeface="Consolas"/>
              </a:rPr>
              <a:t>• Ward 5 had the highest number of requests.</a:t>
            </a:r>
          </a:p>
          <a:p>
            <a:pPr algn="l">
              <a:lnSpc>
                <a:spcPts val="2612"/>
              </a:lnSpc>
            </a:pPr>
            <a:r>
              <a:rPr lang="en-US" sz="2176">
                <a:solidFill>
                  <a:srgbClr val="3D2A26"/>
                </a:solidFill>
                <a:latin typeface="Consolas"/>
                <a:ea typeface="Consolas"/>
                <a:cs typeface="Consolas"/>
                <a:sym typeface="Consolas"/>
              </a:rPr>
              <a:t>• July, Tuesday, and 2 PM were the busiest time patterns.</a:t>
            </a:r>
          </a:p>
          <a:p>
            <a:pPr algn="l">
              <a:lnSpc>
                <a:spcPts val="2612"/>
              </a:lnSpc>
            </a:pPr>
            <a:r>
              <a:rPr lang="en-US" sz="2176">
                <a:solidFill>
                  <a:srgbClr val="3D2A26"/>
                </a:solidFill>
                <a:latin typeface="Consolas"/>
                <a:ea typeface="Consolas"/>
                <a:cs typeface="Consolas"/>
                <a:sym typeface="Consolas"/>
              </a:rPr>
              <a:t>• Response time varied strongly by request type.</a:t>
            </a:r>
          </a:p>
        </p:txBody>
      </p:sp>
      <p:grpSp>
        <p:nvGrpSpPr>
          <p:cNvPr name="Group 24" id="24"/>
          <p:cNvGrpSpPr/>
          <p:nvPr/>
        </p:nvGrpSpPr>
        <p:grpSpPr>
          <a:xfrm rot="0">
            <a:off x="9951872" y="2402176"/>
            <a:ext cx="2608078" cy="466709"/>
            <a:chOff x="0" y="0"/>
            <a:chExt cx="3477438" cy="622278"/>
          </a:xfrm>
        </p:grpSpPr>
        <p:sp>
          <p:nvSpPr>
            <p:cNvPr name="Freeform 25" id="25"/>
            <p:cNvSpPr/>
            <p:nvPr/>
          </p:nvSpPr>
          <p:spPr>
            <a:xfrm flipH="false" flipV="false" rot="0">
              <a:off x="0" y="0"/>
              <a:ext cx="3477514" cy="622304"/>
            </a:xfrm>
            <a:custGeom>
              <a:avLst/>
              <a:gdLst/>
              <a:ahLst/>
              <a:cxnLst/>
              <a:rect r="r" b="b" t="t" l="l"/>
              <a:pathLst>
                <a:path h="622304" w="3477514">
                  <a:moveTo>
                    <a:pt x="0" y="103760"/>
                  </a:moveTo>
                  <a:cubicBezTo>
                    <a:pt x="0" y="46482"/>
                    <a:pt x="46482" y="0"/>
                    <a:pt x="103759" y="0"/>
                  </a:cubicBezTo>
                  <a:lnTo>
                    <a:pt x="3373755" y="0"/>
                  </a:lnTo>
                  <a:cubicBezTo>
                    <a:pt x="3431032" y="0"/>
                    <a:pt x="3477514" y="46482"/>
                    <a:pt x="3477514" y="103760"/>
                  </a:cubicBezTo>
                  <a:lnTo>
                    <a:pt x="3477514" y="518544"/>
                  </a:lnTo>
                  <a:cubicBezTo>
                    <a:pt x="3477514" y="575821"/>
                    <a:pt x="3431032" y="622304"/>
                    <a:pt x="3373755" y="622304"/>
                  </a:cubicBezTo>
                  <a:lnTo>
                    <a:pt x="103759" y="622304"/>
                  </a:lnTo>
                  <a:cubicBezTo>
                    <a:pt x="46482" y="622304"/>
                    <a:pt x="0" y="575821"/>
                    <a:pt x="0" y="518544"/>
                  </a:cubicBezTo>
                  <a:close/>
                </a:path>
              </a:pathLst>
            </a:custGeom>
            <a:solidFill>
              <a:srgbClr val="4A9BC1"/>
            </a:solidFill>
          </p:spPr>
        </p:sp>
        <p:sp>
          <p:nvSpPr>
            <p:cNvPr name="TextBox 26" id="26"/>
            <p:cNvSpPr txBox="true"/>
            <p:nvPr/>
          </p:nvSpPr>
          <p:spPr>
            <a:xfrm>
              <a:off x="0" y="-38100"/>
              <a:ext cx="3477438" cy="660378"/>
            </a:xfrm>
            <a:prstGeom prst="rect">
              <a:avLst/>
            </a:prstGeom>
          </p:spPr>
          <p:txBody>
            <a:bodyPr anchor="ctr" rtlCol="false" tIns="50800" lIns="50800" bIns="50800" rIns="50800"/>
            <a:lstStyle/>
            <a:p>
              <a:pPr algn="ctr">
                <a:lnSpc>
                  <a:spcPts val="1801"/>
                </a:lnSpc>
              </a:pPr>
              <a:r>
                <a:rPr lang="en-US" sz="1501" b="true">
                  <a:solidFill>
                    <a:srgbClr val="FFFFFF"/>
                  </a:solidFill>
                  <a:latin typeface="Consolas Bold"/>
                  <a:ea typeface="Consolas Bold"/>
                  <a:cs typeface="Consolas Bold"/>
                  <a:sym typeface="Consolas Bold"/>
                </a:rPr>
                <a:t>Final takeaway</a:t>
              </a:r>
            </a:p>
          </p:txBody>
        </p:sp>
      </p:grpSp>
      <p:sp>
        <p:nvSpPr>
          <p:cNvPr name="TextBox 27" id="27"/>
          <p:cNvSpPr txBox="true"/>
          <p:nvPr/>
        </p:nvSpPr>
        <p:spPr>
          <a:xfrm rot="0">
            <a:off x="10066230" y="2981020"/>
            <a:ext cx="6634658" cy="2105025"/>
          </a:xfrm>
          <a:prstGeom prst="rect">
            <a:avLst/>
          </a:prstGeom>
        </p:spPr>
        <p:txBody>
          <a:bodyPr anchor="t" rtlCol="false" tIns="0" lIns="0" bIns="0" rIns="0">
            <a:spAutoFit/>
          </a:bodyPr>
          <a:lstStyle/>
          <a:p>
            <a:pPr algn="l">
              <a:lnSpc>
                <a:spcPts val="3242"/>
              </a:lnSpc>
            </a:pPr>
            <a:r>
              <a:rPr lang="en-US" sz="2702" b="true">
                <a:solidFill>
                  <a:srgbClr val="3D2A26"/>
                </a:solidFill>
                <a:latin typeface="Consolas Bold"/>
                <a:ea typeface="Consolas Bold"/>
                <a:cs typeface="Consolas Bold"/>
                <a:sym typeface="Consolas Bold"/>
              </a:rPr>
              <a:t>311 data is more than a list of complaints. It is a public record of how residents experience the city and how services respond over time.</a:t>
            </a:r>
          </a:p>
        </p:txBody>
      </p:sp>
      <p:sp>
        <p:nvSpPr>
          <p:cNvPr name="TextBox 28" id="28"/>
          <p:cNvSpPr txBox="true"/>
          <p:nvPr/>
        </p:nvSpPr>
        <p:spPr>
          <a:xfrm rot="0">
            <a:off x="10066230" y="5520461"/>
            <a:ext cx="6497384" cy="1085850"/>
          </a:xfrm>
          <a:prstGeom prst="rect">
            <a:avLst/>
          </a:prstGeom>
        </p:spPr>
        <p:txBody>
          <a:bodyPr anchor="t" rtlCol="false" tIns="0" lIns="0" bIns="0" rIns="0">
            <a:spAutoFit/>
          </a:bodyPr>
          <a:lstStyle/>
          <a:p>
            <a:pPr algn="l">
              <a:lnSpc>
                <a:spcPts val="2702"/>
              </a:lnSpc>
            </a:pPr>
            <a:r>
              <a:rPr lang="en-US" sz="2251" b="true">
                <a:solidFill>
                  <a:srgbClr val="6F4336"/>
                </a:solidFill>
                <a:latin typeface="Consolas Bold"/>
                <a:ea typeface="Consolas Bold"/>
                <a:cs typeface="Consolas Bold"/>
                <a:sym typeface="Consolas Bold"/>
              </a:rPr>
              <a:t>Code helped move from raw records to a clear story: load → clean → create features → visualize → interpret.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DAHIKGW0mBQ</dc:identifier>
  <dcterms:modified xsi:type="dcterms:W3CDTF">2011-08-01T06:04:30Z</dcterms:modified>
  <cp:revision>1</cp:revision>
  <dc:title>City Signals</dc:title>
</cp:coreProperties>
</file>